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charts/chart7.xml" ContentType="application/vnd.openxmlformats-officedocument.drawingml.chart+xml"/>
  <Override PartName="/ppt/drawings/drawing7.xml" ContentType="application/vnd.openxmlformats-officedocument.drawingml.chartshapes+xml"/>
  <Override PartName="/ppt/charts/chart8.xml" ContentType="application/vnd.openxmlformats-officedocument.drawingml.chart+xml"/>
  <Override PartName="/ppt/drawings/drawing8.xml" ContentType="application/vnd.openxmlformats-officedocument.drawingml.chartshapes+xml"/>
  <Override PartName="/ppt/charts/chart9.xml" ContentType="application/vnd.openxmlformats-officedocument.drawingml.chart+xml"/>
  <Override PartName="/ppt/drawings/drawing9.xml" ContentType="application/vnd.openxmlformats-officedocument.drawingml.chartshapes+xml"/>
  <Override PartName="/ppt/charts/chart10.xml" ContentType="application/vnd.openxmlformats-officedocument.drawingml.chart+xml"/>
  <Override PartName="/ppt/drawings/drawing10.xml" ContentType="application/vnd.openxmlformats-officedocument.drawingml.chartshapes+xml"/>
  <Override PartName="/ppt/charts/chart11.xml" ContentType="application/vnd.openxmlformats-officedocument.drawingml.chart+xml"/>
  <Override PartName="/ppt/drawings/drawing11.xml" ContentType="application/vnd.openxmlformats-officedocument.drawingml.chartshapes+xml"/>
  <Override PartName="/ppt/charts/chart12.xml" ContentType="application/vnd.openxmlformats-officedocument.drawingml.chart+xml"/>
  <Override PartName="/ppt/drawings/drawing12.xml" ContentType="application/vnd.openxmlformats-officedocument.drawingml.chartshapes+xml"/>
  <Override PartName="/ppt/charts/chart13.xml" ContentType="application/vnd.openxmlformats-officedocument.drawingml.chart+xml"/>
  <Override PartName="/ppt/drawings/drawing13.xml" ContentType="application/vnd.openxmlformats-officedocument.drawingml.chartshapes+xml"/>
  <Override PartName="/ppt/charts/chart14.xml" ContentType="application/vnd.openxmlformats-officedocument.drawingml.chart+xml"/>
  <Override PartName="/ppt/drawings/drawing14.xml" ContentType="application/vnd.openxmlformats-officedocument.drawingml.chartshapes+xml"/>
  <Override PartName="/ppt/charts/chart15.xml" ContentType="application/vnd.openxmlformats-officedocument.drawingml.chart+xml"/>
  <Override PartName="/ppt/drawings/drawing15.xml" ContentType="application/vnd.openxmlformats-officedocument.drawingml.chartshapes+xml"/>
  <Override PartName="/ppt/charts/chart16.xml" ContentType="application/vnd.openxmlformats-officedocument.drawingml.chart+xml"/>
  <Override PartName="/ppt/drawings/drawing16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650" r:id="rId6"/>
  </p:sldMasterIdLst>
  <p:notesMasterIdLst>
    <p:notesMasterId r:id="rId30"/>
  </p:notesMasterIdLst>
  <p:sldIdLst>
    <p:sldId id="481" r:id="rId7"/>
    <p:sldId id="451" r:id="rId8"/>
    <p:sldId id="452" r:id="rId9"/>
    <p:sldId id="453" r:id="rId10"/>
    <p:sldId id="473" r:id="rId11"/>
    <p:sldId id="487" r:id="rId12"/>
    <p:sldId id="455" r:id="rId13"/>
    <p:sldId id="457" r:id="rId14"/>
    <p:sldId id="482" r:id="rId15"/>
    <p:sldId id="474" r:id="rId16"/>
    <p:sldId id="483" r:id="rId17"/>
    <p:sldId id="475" r:id="rId18"/>
    <p:sldId id="488" r:id="rId19"/>
    <p:sldId id="489" r:id="rId20"/>
    <p:sldId id="477" r:id="rId21"/>
    <p:sldId id="466" r:id="rId22"/>
    <p:sldId id="484" r:id="rId23"/>
    <p:sldId id="467" r:id="rId24"/>
    <p:sldId id="485" r:id="rId25"/>
    <p:sldId id="468" r:id="rId26"/>
    <p:sldId id="486" r:id="rId27"/>
    <p:sldId id="480" r:id="rId28"/>
    <p:sldId id="42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976" userDrawn="1">
          <p15:clr>
            <a:srgbClr val="A4A3A4"/>
          </p15:clr>
        </p15:guide>
        <p15:guide id="2" pos="3386" userDrawn="1">
          <p15:clr>
            <a:srgbClr val="A4A3A4"/>
          </p15:clr>
        </p15:guide>
        <p15:guide id="3" pos="4226" userDrawn="1">
          <p15:clr>
            <a:srgbClr val="A4A3A4"/>
          </p15:clr>
        </p15:guide>
        <p15:guide id="4" pos="5564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  <p15:guide id="6" pos="234" userDrawn="1">
          <p15:clr>
            <a:srgbClr val="A4A3A4"/>
          </p15:clr>
        </p15:guide>
        <p15:guide id="7" orient="horz" pos="1797" userDrawn="1">
          <p15:clr>
            <a:srgbClr val="A4A3A4"/>
          </p15:clr>
        </p15:guide>
        <p15:guide id="8" pos="49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Y Nixon" initials="AN" lastIdx="1" clrIdx="0">
    <p:extLst>
      <p:ext uri="{19B8F6BF-5375-455C-9EA6-DF929625EA0E}">
        <p15:presenceInfo xmlns:p15="http://schemas.microsoft.com/office/powerpoint/2012/main" xmlns="" userId="0735b7a1a4b41e1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0C22"/>
    <a:srgbClr val="E2000F"/>
    <a:srgbClr val="D11D1C"/>
    <a:srgbClr val="FFA401"/>
    <a:srgbClr val="C39BD3"/>
    <a:srgbClr val="FF0000"/>
    <a:srgbClr val="F6FAF4"/>
    <a:srgbClr val="E2F0D9"/>
    <a:srgbClr val="D21920"/>
    <a:srgbClr val="CD94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 autoAdjust="0"/>
    <p:restoredTop sz="91400" autoAdjust="0"/>
  </p:normalViewPr>
  <p:slideViewPr>
    <p:cSldViewPr snapToGrid="0" snapToObjects="1">
      <p:cViewPr>
        <p:scale>
          <a:sx n="91" d="100"/>
          <a:sy n="91" d="100"/>
        </p:scale>
        <p:origin x="-144" y="42"/>
      </p:cViewPr>
      <p:guideLst>
        <p:guide orient="horz" pos="2976"/>
        <p:guide orient="horz" pos="686"/>
        <p:guide orient="horz" pos="1797"/>
        <p:guide pos="3386"/>
        <p:guide pos="4226"/>
        <p:guide pos="5564"/>
        <p:guide pos="234"/>
        <p:guide pos="4929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Feuille_de_calcul_Microsoft_Excel1.xlsx"/><Relationship Id="rId1" Type="http://schemas.openxmlformats.org/officeDocument/2006/relationships/themeOverride" Target="../theme/themeOverride1.xml"/><Relationship Id="rId5" Type="http://schemas.microsoft.com/office/2011/relationships/chartStyle" Target="style1.xml"/><Relationship Id="rId4" Type="http://schemas.microsoft.com/office/2011/relationships/chartColorStyle" Target="colors1.xm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safira_chan\Desktop\Clients\Alinea\KPI\Alinea_2016-2018.xlsx" TargetMode="External"/><Relationship Id="rId4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Feuille_de_calcul_Microsoft_Excel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Feuille_de_calcul_Microsoft_Excel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Feuille_de_calcul_Microsoft_Excel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oleObject" Target="file:///C:\Users\safira_chan\Desktop\Clients\Alinea\KPI\Alinea_2016-2018.xlsx" TargetMode="Externa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package" Target="../embeddings/Feuille_de_calcul_Microsoft_Excel5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package" Target="../embeddings/Feuille_de_calcul_Microsoft_Excel6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package" Target="../embeddings/Feuille_de_calcul_Microsoft_Excel7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0.xml"/><Relationship Id="rId1" Type="http://schemas.openxmlformats.org/officeDocument/2006/relationships/oleObject" Target="Book1" TargetMode="Externa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1.xml"/><Relationship Id="rId1" Type="http://schemas.openxmlformats.org/officeDocument/2006/relationships/oleObject" Target="Book1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openxmlformats.org/officeDocument/2006/relationships/chartUserShapes" Target="../drawings/drawing12.xml"/><Relationship Id="rId1" Type="http://schemas.openxmlformats.org/officeDocument/2006/relationships/oleObject" Target="file:///C:\Users\rosanna_tsang\Rosanna%20Tsang\ECI\07%20Meeting\ECI%20RESULT%2020160101-20181231.xlsx" TargetMode="External"/><Relationship Id="rId4" Type="http://schemas.microsoft.com/office/2011/relationships/chartStyle" Target="style3.xm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openxmlformats.org/officeDocument/2006/relationships/chartUserShapes" Target="../drawings/drawing13.xml"/><Relationship Id="rId1" Type="http://schemas.openxmlformats.org/officeDocument/2006/relationships/oleObject" Target="file:///C:\Users\rosanna_tsang\Rosanna%20Tsang\ECI\07%20Meeting\ECI%20RESULT%2020160101-20181231.xlsx" TargetMode="External"/><Relationship Id="rId4" Type="http://schemas.microsoft.com/office/2011/relationships/chartStyle" Target="style4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4.xml"/><Relationship Id="rId1" Type="http://schemas.openxmlformats.org/officeDocument/2006/relationships/oleObject" Target="file:///C:\Users\rosanna_tsang\Rosanna%20Tsang\ECI\07%20Meeting\ECI%20RESULT%2020160101-20181231.xlsx" TargetMode="Externa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5.xml"/><Relationship Id="rId1" Type="http://schemas.openxmlformats.org/officeDocument/2006/relationships/package" Target="../embeddings/Feuille_de_calcul_Microsoft_Excel8.xlsx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6.xml"/><Relationship Id="rId1" Type="http://schemas.openxmlformats.org/officeDocument/2006/relationships/package" Target="../embeddings/Feuille_de_calcul_Microsoft_Excel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altLang="en-US" dirty="0" err="1"/>
              <a:t>Manday</a:t>
            </a:r>
            <a:r>
              <a:rPr lang="en-US" altLang="en-US" baseline="0" dirty="0" err="1"/>
              <a:t>s</a:t>
            </a:r>
            <a:r>
              <a:rPr lang="en-US" altLang="en-US" baseline="0" dirty="0"/>
              <a:t> by country</a:t>
            </a:r>
            <a:endParaRPr lang="en-US" altLang="en-US" dirty="0"/>
          </a:p>
        </c:rich>
      </c:tx>
      <c:layout>
        <c:manualLayout>
          <c:xMode val="edge"/>
          <c:yMode val="edge"/>
          <c:x val="0.30143346771178137"/>
          <c:y val="4.409232307521386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'MD per country'!$A$3</c:f>
              <c:strCache>
                <c:ptCount val="1"/>
                <c:pt idx="0">
                  <c:v>Y2017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  <a:effectLst/>
          </c:spPr>
          <c:invertIfNegative val="0"/>
          <c:cat>
            <c:strRef>
              <c:f>'MD per country'!$B$2:$E$2</c:f>
              <c:strCache>
                <c:ptCount val="4"/>
                <c:pt idx="0">
                  <c:v>India</c:v>
                </c:pt>
                <c:pt idx="1">
                  <c:v>North China</c:v>
                </c:pt>
                <c:pt idx="2">
                  <c:v>South China</c:v>
                </c:pt>
                <c:pt idx="3">
                  <c:v>Taiwan</c:v>
                </c:pt>
              </c:strCache>
            </c:strRef>
          </c:cat>
          <c:val>
            <c:numRef>
              <c:f>'MD per country'!$B$3:$E$3</c:f>
              <c:numCache>
                <c:formatCode>General</c:formatCode>
                <c:ptCount val="4"/>
                <c:pt idx="0" formatCode="0">
                  <c:v>16</c:v>
                </c:pt>
                <c:pt idx="1">
                  <c:v>411</c:v>
                </c:pt>
                <c:pt idx="2">
                  <c:v>31</c:v>
                </c:pt>
                <c:pt idx="3">
                  <c:v>376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4B36-4FC0-BCA1-7149525F43E5}"/>
            </c:ext>
          </c:extLst>
        </c:ser>
        <c:ser>
          <c:idx val="1"/>
          <c:order val="1"/>
          <c:tx>
            <c:strRef>
              <c:f>'MD per country'!$A$4</c:f>
              <c:strCache>
                <c:ptCount val="1"/>
                <c:pt idx="0">
                  <c:v>Y2018</c:v>
                </c:pt>
              </c:strCache>
            </c:strRef>
          </c:tx>
          <c:spPr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3B0B-46F2-A576-F1EB799E25FB}"/>
              </c:ext>
            </c:extLst>
          </c:dPt>
          <c:cat>
            <c:strRef>
              <c:f>'MD per country'!$B$2:$E$2</c:f>
              <c:strCache>
                <c:ptCount val="4"/>
                <c:pt idx="0">
                  <c:v>India</c:v>
                </c:pt>
                <c:pt idx="1">
                  <c:v>North China</c:v>
                </c:pt>
                <c:pt idx="2">
                  <c:v>South China</c:v>
                </c:pt>
                <c:pt idx="3">
                  <c:v>Taiwan</c:v>
                </c:pt>
              </c:strCache>
            </c:strRef>
          </c:cat>
          <c:val>
            <c:numRef>
              <c:f>'MD per country'!$B$4:$E$4</c:f>
              <c:numCache>
                <c:formatCode>General</c:formatCode>
                <c:ptCount val="4"/>
                <c:pt idx="0" formatCode="0">
                  <c:v>20</c:v>
                </c:pt>
                <c:pt idx="1">
                  <c:v>294</c:v>
                </c:pt>
                <c:pt idx="2">
                  <c:v>45</c:v>
                </c:pt>
                <c:pt idx="3">
                  <c:v>245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4B36-4FC0-BCA1-7149525F43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0875776"/>
        <c:axId val="600877312"/>
      </c:barChart>
      <c:catAx>
        <c:axId val="60087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0877312"/>
        <c:crosses val="autoZero"/>
        <c:auto val="1"/>
        <c:lblAlgn val="ctr"/>
        <c:lblOffset val="100"/>
        <c:noMultiLvlLbl val="0"/>
      </c:catAx>
      <c:valAx>
        <c:axId val="600877312"/>
        <c:scaling>
          <c:orientation val="minMax"/>
          <c:max val="140"/>
          <c:min val="0"/>
        </c:scaling>
        <c:delete val="0"/>
        <c:axPos val="l"/>
        <c:majorGridlines>
          <c:spPr>
            <a:ln w="635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08757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fr-FR"/>
    </a:p>
  </c:txPr>
  <c:externalData r:id="rId2">
    <c:autoUpdate val="0"/>
  </c:externalData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732593343852972E-2"/>
          <c:y val="0.11752825003555023"/>
          <c:w val="0.89109446495609013"/>
          <c:h val="0.6473288599441466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Sheet1!$Q$16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Sheet1!$R$19:$AC$19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Sheet1!$R$18:$AC$18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</c:v>
                </c:pt>
                <c:pt idx="6">
                  <c:v>22</c:v>
                </c:pt>
                <c:pt idx="7">
                  <c:v>43</c:v>
                </c:pt>
                <c:pt idx="8">
                  <c:v>28</c:v>
                </c:pt>
                <c:pt idx="9">
                  <c:v>27</c:v>
                </c:pt>
                <c:pt idx="10">
                  <c:v>23</c:v>
                </c:pt>
                <c:pt idx="11">
                  <c:v>33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AA78-4172-B3FC-835FF2DD1361}"/>
            </c:ext>
          </c:extLst>
        </c:ser>
        <c:ser>
          <c:idx val="2"/>
          <c:order val="1"/>
          <c:tx>
            <c:strRef>
              <c:f>Sheet1!$Q$19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Sheet1!$R$19:$AC$19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Sheet1!$R$21:$AC$21</c:f>
              <c:numCache>
                <c:formatCode>General</c:formatCode>
                <c:ptCount val="12"/>
                <c:pt idx="0">
                  <c:v>59</c:v>
                </c:pt>
                <c:pt idx="1">
                  <c:v>4</c:v>
                </c:pt>
                <c:pt idx="2">
                  <c:v>56</c:v>
                </c:pt>
                <c:pt idx="3">
                  <c:v>7</c:v>
                </c:pt>
                <c:pt idx="4">
                  <c:v>14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AA78-4172-B3FC-835FF2DD1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2191744"/>
        <c:axId val="432197632"/>
      </c:barChart>
      <c:catAx>
        <c:axId val="432191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2197632"/>
        <c:crosses val="autoZero"/>
        <c:auto val="1"/>
        <c:lblAlgn val="ctr"/>
        <c:lblOffset val="100"/>
        <c:noMultiLvlLbl val="0"/>
      </c:catAx>
      <c:valAx>
        <c:axId val="432197632"/>
        <c:scaling>
          <c:orientation val="minMax"/>
          <c:max val="64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2191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993909381777567"/>
          <c:y val="9.6230131166254798E-2"/>
          <c:w val="0.72112132642800331"/>
          <c:h val="0.48561203906647543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Sheet1!$D$1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</c:v>
                </c:pt>
                <c:pt idx="6">
                  <c:v>20</c:v>
                </c:pt>
                <c:pt idx="7">
                  <c:v>39</c:v>
                </c:pt>
                <c:pt idx="8">
                  <c:v>26</c:v>
                </c:pt>
                <c:pt idx="9">
                  <c:v>24</c:v>
                </c:pt>
                <c:pt idx="10">
                  <c:v>22</c:v>
                </c:pt>
                <c:pt idx="11">
                  <c:v>29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CB44-42EE-B024-C15D7B02E009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51</c:v>
                </c:pt>
                <c:pt idx="1">
                  <c:v>4</c:v>
                </c:pt>
                <c:pt idx="2">
                  <c:v>50</c:v>
                </c:pt>
                <c:pt idx="3">
                  <c:v>5</c:v>
                </c:pt>
                <c:pt idx="4">
                  <c:v>14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CB44-42EE-B024-C15D7B02E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2485504"/>
        <c:axId val="432487040"/>
      </c:barChart>
      <c:catAx>
        <c:axId val="4324855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432487040"/>
        <c:crosses val="autoZero"/>
        <c:auto val="1"/>
        <c:lblAlgn val="ctr"/>
        <c:lblOffset val="100"/>
        <c:tickLblSkip val="1"/>
        <c:noMultiLvlLbl val="0"/>
      </c:catAx>
      <c:valAx>
        <c:axId val="432487040"/>
        <c:scaling>
          <c:orientation val="minMax"/>
          <c:max val="56"/>
          <c:min val="0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432485504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82824399088305"/>
          <c:y val="0.18742622347516946"/>
          <c:w val="0.72533015544597124"/>
          <c:h val="0.49416907279422689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6</c:v>
                </c:pt>
                <c:pt idx="10">
                  <c:v>1</c:v>
                </c:pt>
                <c:pt idx="11">
                  <c:v>4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5FF1-4D48-948C-A86D155524CE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0</c:v>
                </c:pt>
                <c:pt idx="2">
                  <c:v>6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5FF1-4D48-948C-A86D15552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2685056"/>
        <c:axId val="432686592"/>
      </c:barChart>
      <c:catAx>
        <c:axId val="4326850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432686592"/>
        <c:crosses val="autoZero"/>
        <c:auto val="1"/>
        <c:lblAlgn val="ctr"/>
        <c:lblOffset val="100"/>
        <c:noMultiLvlLbl val="0"/>
      </c:catAx>
      <c:valAx>
        <c:axId val="432686592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  <a:endParaRPr lang="fr-FR"/>
          </a:p>
        </c:txPr>
        <c:crossAx val="432685056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922216124435255"/>
          <c:y val="5.6560459331679185E-2"/>
          <c:w val="0.7093448773931238"/>
          <c:h val="0.5246770420570553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4559-43A9-9B3C-77E6709A4296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4559-43A9-9B3C-77E6709A4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2708224"/>
        <c:axId val="432710016"/>
      </c:barChart>
      <c:catAx>
        <c:axId val="4327082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432710016"/>
        <c:crosses val="autoZero"/>
        <c:auto val="1"/>
        <c:lblAlgn val="ctr"/>
        <c:lblOffset val="100"/>
        <c:noMultiLvlLbl val="0"/>
      </c:catAx>
      <c:valAx>
        <c:axId val="432710016"/>
        <c:scaling>
          <c:orientation val="minMax"/>
          <c:max val="7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  <a:endParaRPr lang="fr-FR"/>
          </a:p>
        </c:txPr>
        <c:crossAx val="432708224"/>
        <c:crosses val="autoZero"/>
        <c:crossBetween val="between"/>
      </c:valAx>
      <c:spPr>
        <a:noFill/>
      </c:spPr>
    </c:plotArea>
    <c:legend>
      <c:legendPos val="r"/>
      <c:layout>
        <c:manualLayout>
          <c:xMode val="edge"/>
          <c:yMode val="edge"/>
          <c:x val="0.86276466950833564"/>
          <c:y val="0.47636799003235791"/>
          <c:w val="0.11825835014433105"/>
          <c:h val="0.30134961856090081"/>
        </c:manualLayout>
      </c:layout>
      <c:overlay val="0"/>
      <c:txPr>
        <a:bodyPr/>
        <a:lstStyle/>
        <a:p>
          <a:pPr>
            <a:defRPr sz="120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400"/>
      </a:pPr>
      <a:endParaRPr lang="fr-FR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732593343852972E-2"/>
          <c:y val="0.11752825003555023"/>
          <c:w val="0.89109446495609013"/>
          <c:h val="0.6473288599441466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Sheet1!$Q$16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Sheet1!$R$19:$AC$19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Sheet1!$R$18:$AC$18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</c:v>
                </c:pt>
                <c:pt idx="6">
                  <c:v>22</c:v>
                </c:pt>
                <c:pt idx="7">
                  <c:v>43</c:v>
                </c:pt>
                <c:pt idx="8">
                  <c:v>28</c:v>
                </c:pt>
                <c:pt idx="9">
                  <c:v>27</c:v>
                </c:pt>
                <c:pt idx="10">
                  <c:v>23</c:v>
                </c:pt>
                <c:pt idx="11">
                  <c:v>33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AA78-4172-B3FC-835FF2DD1361}"/>
            </c:ext>
          </c:extLst>
        </c:ser>
        <c:ser>
          <c:idx val="2"/>
          <c:order val="1"/>
          <c:tx>
            <c:strRef>
              <c:f>Sheet1!$Q$19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Sheet1!$R$19:$AC$19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Sheet1!$R$21:$AC$21</c:f>
              <c:numCache>
                <c:formatCode>General</c:formatCode>
                <c:ptCount val="12"/>
                <c:pt idx="0">
                  <c:v>59</c:v>
                </c:pt>
                <c:pt idx="1">
                  <c:v>4</c:v>
                </c:pt>
                <c:pt idx="2">
                  <c:v>56</c:v>
                </c:pt>
                <c:pt idx="3">
                  <c:v>7</c:v>
                </c:pt>
                <c:pt idx="4">
                  <c:v>14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AA78-4172-B3FC-835FF2DD1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6594944"/>
        <c:axId val="436596736"/>
      </c:barChart>
      <c:catAx>
        <c:axId val="43659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6596736"/>
        <c:crosses val="autoZero"/>
        <c:auto val="1"/>
        <c:lblAlgn val="ctr"/>
        <c:lblOffset val="100"/>
        <c:noMultiLvlLbl val="0"/>
      </c:catAx>
      <c:valAx>
        <c:axId val="436596736"/>
        <c:scaling>
          <c:orientation val="minMax"/>
          <c:max val="64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659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993909381777567"/>
          <c:y val="9.6230131166254798E-2"/>
          <c:w val="0.72112132642800331"/>
          <c:h val="0.48561203906647543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Sheet1!$D$1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</c:v>
                </c:pt>
                <c:pt idx="6">
                  <c:v>20</c:v>
                </c:pt>
                <c:pt idx="7">
                  <c:v>39</c:v>
                </c:pt>
                <c:pt idx="8">
                  <c:v>26</c:v>
                </c:pt>
                <c:pt idx="9">
                  <c:v>24</c:v>
                </c:pt>
                <c:pt idx="10">
                  <c:v>22</c:v>
                </c:pt>
                <c:pt idx="11">
                  <c:v>29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CB44-42EE-B024-C15D7B02E009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51</c:v>
                </c:pt>
                <c:pt idx="1">
                  <c:v>4</c:v>
                </c:pt>
                <c:pt idx="2">
                  <c:v>50</c:v>
                </c:pt>
                <c:pt idx="3">
                  <c:v>5</c:v>
                </c:pt>
                <c:pt idx="4">
                  <c:v>14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CB44-42EE-B024-C15D7B02E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66244480"/>
        <c:axId val="566246016"/>
      </c:barChart>
      <c:catAx>
        <c:axId val="5662444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566246016"/>
        <c:crosses val="autoZero"/>
        <c:auto val="1"/>
        <c:lblAlgn val="ctr"/>
        <c:lblOffset val="100"/>
        <c:tickLblSkip val="1"/>
        <c:noMultiLvlLbl val="0"/>
      </c:catAx>
      <c:valAx>
        <c:axId val="566246016"/>
        <c:scaling>
          <c:orientation val="minMax"/>
          <c:max val="56"/>
          <c:min val="0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566244480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82824399088305"/>
          <c:y val="0.18742622347516946"/>
          <c:w val="0.72533015544597124"/>
          <c:h val="0.49416907279422689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6</c:v>
                </c:pt>
                <c:pt idx="10">
                  <c:v>1</c:v>
                </c:pt>
                <c:pt idx="11">
                  <c:v>4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5FF1-4D48-948C-A86D155524CE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0</c:v>
                </c:pt>
                <c:pt idx="2">
                  <c:v>6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5FF1-4D48-948C-A86D15552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66280192"/>
        <c:axId val="566281728"/>
      </c:barChart>
      <c:catAx>
        <c:axId val="5662801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566281728"/>
        <c:crosses val="autoZero"/>
        <c:auto val="1"/>
        <c:lblAlgn val="ctr"/>
        <c:lblOffset val="100"/>
        <c:noMultiLvlLbl val="0"/>
      </c:catAx>
      <c:valAx>
        <c:axId val="56628172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  <a:endParaRPr lang="fr-FR"/>
          </a:p>
        </c:txPr>
        <c:crossAx val="566280192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922216124435255"/>
          <c:y val="5.6560459331679185E-2"/>
          <c:w val="0.7093448773931238"/>
          <c:h val="0.5246770420570553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4559-43A9-9B3C-77E6709A4296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4559-43A9-9B3C-77E6709A4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6191872"/>
        <c:axId val="596193664"/>
      </c:barChart>
      <c:catAx>
        <c:axId val="5961918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596193664"/>
        <c:crosses val="autoZero"/>
        <c:auto val="1"/>
        <c:lblAlgn val="ctr"/>
        <c:lblOffset val="100"/>
        <c:noMultiLvlLbl val="0"/>
      </c:catAx>
      <c:valAx>
        <c:axId val="596193664"/>
        <c:scaling>
          <c:orientation val="minMax"/>
          <c:max val="7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  <a:endParaRPr lang="fr-FR"/>
          </a:p>
        </c:txPr>
        <c:crossAx val="596191872"/>
        <c:crosses val="autoZero"/>
        <c:crossBetween val="between"/>
      </c:valAx>
      <c:spPr>
        <a:noFill/>
      </c:spPr>
    </c:plotArea>
    <c:legend>
      <c:legendPos val="r"/>
      <c:layout>
        <c:manualLayout>
          <c:xMode val="edge"/>
          <c:yMode val="edge"/>
          <c:x val="0.86276466950833564"/>
          <c:y val="0.47636799003235791"/>
          <c:w val="0.11825835014433105"/>
          <c:h val="0.30134961856090081"/>
        </c:manualLayout>
      </c:layout>
      <c:overlay val="0"/>
      <c:txPr>
        <a:bodyPr/>
        <a:lstStyle/>
        <a:p>
          <a:pPr>
            <a:defRPr sz="120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400"/>
      </a:pPr>
      <a:endParaRPr lang="fr-FR"/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14431874091912"/>
          <c:y val="0.18306384989517618"/>
          <c:w val="0.78195388102620644"/>
          <c:h val="0.636188028579760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[Book1]Sheet1!$F$6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invertIfNegative val="0"/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4ED9-42BE-9C4D-BFEFD7F922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[Book1]Sheet1!$F$7:$F$10</c:f>
              <c:numCache>
                <c:formatCode>0%</c:formatCode>
                <c:ptCount val="4"/>
                <c:pt idx="0">
                  <c:v>0.02</c:v>
                </c:pt>
                <c:pt idx="1">
                  <c:v>0.09</c:v>
                </c:pt>
                <c:pt idx="2">
                  <c:v>0.02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2-4ED9-42BE-9C4D-BFEFD7F9228B}"/>
            </c:ext>
          </c:extLst>
        </c:ser>
        <c:ser>
          <c:idx val="1"/>
          <c:order val="1"/>
          <c:tx>
            <c:strRef>
              <c:f>[Book1]Sheet1!$G$6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FFA40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[Book1]Sheet1!$G$7:$G$10</c:f>
              <c:numCache>
                <c:formatCode>0%</c:formatCode>
                <c:ptCount val="4"/>
                <c:pt idx="0">
                  <c:v>0.04</c:v>
                </c:pt>
                <c:pt idx="1">
                  <c:v>0.09</c:v>
                </c:pt>
                <c:pt idx="2">
                  <c:v>0.04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3-4ED9-42BE-9C4D-BFEFD7F9228B}"/>
            </c:ext>
          </c:extLst>
        </c:ser>
        <c:ser>
          <c:idx val="2"/>
          <c:order val="2"/>
          <c:tx>
            <c:strRef>
              <c:f>[Book1]Sheet1!$H$6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[Book1]Sheet1!$H$7:$H$10</c:f>
              <c:numCache>
                <c:formatCode>0%</c:formatCode>
                <c:ptCount val="4"/>
                <c:pt idx="0">
                  <c:v>0.08</c:v>
                </c:pt>
                <c:pt idx="1">
                  <c:v>0</c:v>
                </c:pt>
                <c:pt idx="2">
                  <c:v>0.09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4-4ED9-42BE-9C4D-BFEFD7F9228B}"/>
            </c:ext>
          </c:extLst>
        </c:ser>
        <c:ser>
          <c:idx val="3"/>
          <c:order val="3"/>
          <c:tx>
            <c:strRef>
              <c:f>[Book1]Sheet1!$I$6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92D0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[Book1]Sheet1!$I$7:$I$10</c:f>
              <c:numCache>
                <c:formatCode>0%</c:formatCode>
                <c:ptCount val="4"/>
                <c:pt idx="0">
                  <c:v>0.85</c:v>
                </c:pt>
                <c:pt idx="1">
                  <c:v>0.82</c:v>
                </c:pt>
                <c:pt idx="2">
                  <c:v>0.85</c:v>
                </c:pt>
                <c:pt idx="3">
                  <c:v>1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5-4ED9-42BE-9C4D-BFEFD7F92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3"/>
        <c:overlap val="100"/>
        <c:axId val="596258176"/>
        <c:axId val="596268160"/>
      </c:barChart>
      <c:catAx>
        <c:axId val="596258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96268160"/>
        <c:crosses val="autoZero"/>
        <c:auto val="1"/>
        <c:lblAlgn val="ctr"/>
        <c:lblOffset val="100"/>
        <c:noMultiLvlLbl val="0"/>
      </c:catAx>
      <c:valAx>
        <c:axId val="596268160"/>
        <c:scaling>
          <c:orientation val="minMax"/>
          <c:max val="1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596258176"/>
        <c:crosses val="autoZero"/>
        <c:crossBetween val="between"/>
        <c:majorUnit val="0.1"/>
        <c:minorUnit val="2.0000000000000004E-2"/>
      </c:valAx>
    </c:plotArea>
    <c:legend>
      <c:legendPos val="r"/>
      <c:layout>
        <c:manualLayout>
          <c:xMode val="edge"/>
          <c:yMode val="edge"/>
          <c:x val="0.16598725977149623"/>
          <c:y val="0.90218468475503855"/>
          <c:w val="0.61913757655293089"/>
          <c:h val="6.1720618256051331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14431874091912"/>
          <c:y val="0.18306384989517618"/>
          <c:w val="0.78195388102620644"/>
          <c:h val="0.636188028579760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[Book1]Sheet1!$F$6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invertIfNegative val="0"/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4ED9-42BE-9C4D-BFEFD7F922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[Book1]Sheet1!$F$7:$F$10</c:f>
              <c:numCache>
                <c:formatCode>0%</c:formatCode>
                <c:ptCount val="4"/>
                <c:pt idx="0">
                  <c:v>0.02</c:v>
                </c:pt>
                <c:pt idx="1">
                  <c:v>0.09</c:v>
                </c:pt>
                <c:pt idx="2">
                  <c:v>0.02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2-4ED9-42BE-9C4D-BFEFD7F9228B}"/>
            </c:ext>
          </c:extLst>
        </c:ser>
        <c:ser>
          <c:idx val="1"/>
          <c:order val="1"/>
          <c:tx>
            <c:strRef>
              <c:f>[Book1]Sheet1!$G$6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FFA40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[Book1]Sheet1!$G$7:$G$10</c:f>
              <c:numCache>
                <c:formatCode>0%</c:formatCode>
                <c:ptCount val="4"/>
                <c:pt idx="0">
                  <c:v>0.04</c:v>
                </c:pt>
                <c:pt idx="1">
                  <c:v>0.09</c:v>
                </c:pt>
                <c:pt idx="2">
                  <c:v>0.04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3-4ED9-42BE-9C4D-BFEFD7F9228B}"/>
            </c:ext>
          </c:extLst>
        </c:ser>
        <c:ser>
          <c:idx val="2"/>
          <c:order val="2"/>
          <c:tx>
            <c:strRef>
              <c:f>[Book1]Sheet1!$H$6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[Book1]Sheet1!$H$7:$H$10</c:f>
              <c:numCache>
                <c:formatCode>0%</c:formatCode>
                <c:ptCount val="4"/>
                <c:pt idx="0">
                  <c:v>0.08</c:v>
                </c:pt>
                <c:pt idx="1">
                  <c:v>0</c:v>
                </c:pt>
                <c:pt idx="2">
                  <c:v>0.09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4-4ED9-42BE-9C4D-BFEFD7F9228B}"/>
            </c:ext>
          </c:extLst>
        </c:ser>
        <c:ser>
          <c:idx val="3"/>
          <c:order val="3"/>
          <c:tx>
            <c:strRef>
              <c:f>[Book1]Sheet1!$I$6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92D0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[Book1]Sheet1!$E$7:$E$10</c:f>
              <c:strCache>
                <c:ptCount val="4"/>
                <c:pt idx="0">
                  <c:v>Total</c:v>
                </c:pt>
                <c:pt idx="1">
                  <c:v>Furniture</c:v>
                </c:pt>
                <c:pt idx="2">
                  <c:v>Home Products</c:v>
                </c:pt>
                <c:pt idx="3">
                  <c:v>Textile and Footware</c:v>
                </c:pt>
              </c:strCache>
            </c:strRef>
          </c:cat>
          <c:val>
            <c:numRef>
              <c:f>[Book1]Sheet1!$I$7:$I$10</c:f>
              <c:numCache>
                <c:formatCode>0%</c:formatCode>
                <c:ptCount val="4"/>
                <c:pt idx="0">
                  <c:v>0.85</c:v>
                </c:pt>
                <c:pt idx="1">
                  <c:v>0.82</c:v>
                </c:pt>
                <c:pt idx="2">
                  <c:v>0.85</c:v>
                </c:pt>
                <c:pt idx="3">
                  <c:v>1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5-4ED9-42BE-9C4D-BFEFD7F92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3"/>
        <c:overlap val="100"/>
        <c:axId val="596481920"/>
        <c:axId val="596483456"/>
      </c:barChart>
      <c:catAx>
        <c:axId val="596481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96483456"/>
        <c:crosses val="autoZero"/>
        <c:auto val="1"/>
        <c:lblAlgn val="ctr"/>
        <c:lblOffset val="100"/>
        <c:noMultiLvlLbl val="0"/>
      </c:catAx>
      <c:valAx>
        <c:axId val="596483456"/>
        <c:scaling>
          <c:orientation val="minMax"/>
          <c:max val="1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596481920"/>
        <c:crosses val="autoZero"/>
        <c:crossBetween val="between"/>
        <c:majorUnit val="0.1"/>
        <c:minorUnit val="2.0000000000000004E-2"/>
      </c:valAx>
    </c:plotArea>
    <c:legend>
      <c:legendPos val="r"/>
      <c:layout>
        <c:manualLayout>
          <c:xMode val="edge"/>
          <c:yMode val="edge"/>
          <c:x val="0.16598725977149623"/>
          <c:y val="0.90218468475503855"/>
          <c:w val="0.61913757655293089"/>
          <c:h val="6.1720618256051331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6762255016314245"/>
          <c:y val="0.10650698895329219"/>
          <c:w val="0.38382775906587369"/>
          <c:h val="0.820555179940697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'To ppt p.11_Top 20'!$J$2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'To ppt p.11_Top 20'!$I$3:$I$22</c:f>
              <c:strCache>
                <c:ptCount val="9"/>
                <c:pt idx="0">
                  <c:v>BEST RAINBOW LIMITED</c:v>
                </c:pt>
                <c:pt idx="1">
                  <c:v>HOME ACCENTS FLORAL &amp; CRAFT LIMITED</c:v>
                </c:pt>
                <c:pt idx="2">
                  <c:v>NINGBO FUTURE HOUSEWARE CO.,LTD.</c:v>
                </c:pt>
                <c:pt idx="3">
                  <c:v>NINGBO HAODING IMP&amp;EXP CO.,LTD</c:v>
                </c:pt>
                <c:pt idx="4">
                  <c:v>HANGZHOU J-HOMES CO. LTD</c:v>
                </c:pt>
                <c:pt idx="5">
                  <c:v>MINHOU XINGCHENG ARTS AND CRAFTS CO., LTD.</c:v>
                </c:pt>
                <c:pt idx="6">
                  <c:v>QINGDAO SUNHOME TRADING CO.,LTD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20'!$J$3:$J$22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9170-4B07-9ED6-2C946446C2FD}"/>
            </c:ext>
          </c:extLst>
        </c:ser>
        <c:ser>
          <c:idx val="1"/>
          <c:order val="1"/>
          <c:tx>
            <c:strRef>
              <c:f>'To ppt p.11_Top 20'!$K$2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'To ppt p.11_Top 20'!$I$3:$I$22</c:f>
              <c:strCache>
                <c:ptCount val="9"/>
                <c:pt idx="0">
                  <c:v>BEST RAINBOW LIMITED</c:v>
                </c:pt>
                <c:pt idx="1">
                  <c:v>HOME ACCENTS FLORAL &amp; CRAFT LIMITED</c:v>
                </c:pt>
                <c:pt idx="2">
                  <c:v>NINGBO FUTURE HOUSEWARE CO.,LTD.</c:v>
                </c:pt>
                <c:pt idx="3">
                  <c:v>NINGBO HAODING IMP&amp;EXP CO.,LTD</c:v>
                </c:pt>
                <c:pt idx="4">
                  <c:v>HANGZHOU J-HOMES CO. LTD</c:v>
                </c:pt>
                <c:pt idx="5">
                  <c:v>MINHOU XINGCHENG ARTS AND CRAFTS CO., LTD.</c:v>
                </c:pt>
                <c:pt idx="6">
                  <c:v>QINGDAO SUNHOME TRADING CO.,LTD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20'!$K$3:$K$22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9170-4B07-9ED6-2C946446C2FD}"/>
            </c:ext>
          </c:extLst>
        </c:ser>
        <c:ser>
          <c:idx val="2"/>
          <c:order val="2"/>
          <c:tx>
            <c:strRef>
              <c:f>'To ppt p.11_Top 20'!$L$2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'To ppt p.11_Top 20'!$I$3:$I$22</c:f>
              <c:strCache>
                <c:ptCount val="9"/>
                <c:pt idx="0">
                  <c:v>BEST RAINBOW LIMITED</c:v>
                </c:pt>
                <c:pt idx="1">
                  <c:v>HOME ACCENTS FLORAL &amp; CRAFT LIMITED</c:v>
                </c:pt>
                <c:pt idx="2">
                  <c:v>NINGBO FUTURE HOUSEWARE CO.,LTD.</c:v>
                </c:pt>
                <c:pt idx="3">
                  <c:v>NINGBO HAODING IMP&amp;EXP CO.,LTD</c:v>
                </c:pt>
                <c:pt idx="4">
                  <c:v>HANGZHOU J-HOMES CO. LTD</c:v>
                </c:pt>
                <c:pt idx="5">
                  <c:v>MINHOU XINGCHENG ARTS AND CRAFTS CO., LTD.</c:v>
                </c:pt>
                <c:pt idx="6">
                  <c:v>QINGDAO SUNHOME TRADING CO.,LTD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20'!$L$3:$L$22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2-9170-4B07-9ED6-2C946446C2FD}"/>
            </c:ext>
          </c:extLst>
        </c:ser>
        <c:ser>
          <c:idx val="3"/>
          <c:order val="3"/>
          <c:tx>
            <c:strRef>
              <c:f>'To ppt p.11_Top 20'!$M$2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'To ppt p.11_Top 20'!$I$3:$I$22</c:f>
              <c:strCache>
                <c:ptCount val="9"/>
                <c:pt idx="0">
                  <c:v>BEST RAINBOW LIMITED</c:v>
                </c:pt>
                <c:pt idx="1">
                  <c:v>HOME ACCENTS FLORAL &amp; CRAFT LIMITED</c:v>
                </c:pt>
                <c:pt idx="2">
                  <c:v>NINGBO FUTURE HOUSEWARE CO.,LTD.</c:v>
                </c:pt>
                <c:pt idx="3">
                  <c:v>NINGBO HAODING IMP&amp;EXP CO.,LTD</c:v>
                </c:pt>
                <c:pt idx="4">
                  <c:v>HANGZHOU J-HOMES CO. LTD</c:v>
                </c:pt>
                <c:pt idx="5">
                  <c:v>MINHOU XINGCHENG ARTS AND CRAFTS CO., LTD.</c:v>
                </c:pt>
                <c:pt idx="6">
                  <c:v>QINGDAO SUNHOME TRADING CO.,LTD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20'!$M$3:$M$22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3-9170-4B07-9ED6-2C946446C2F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96748928"/>
        <c:axId val="596754816"/>
      </c:barChart>
      <c:catAx>
        <c:axId val="596748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96754816"/>
        <c:crosses val="autoZero"/>
        <c:auto val="1"/>
        <c:lblAlgn val="ctr"/>
        <c:lblOffset val="100"/>
        <c:noMultiLvlLbl val="0"/>
      </c:catAx>
      <c:valAx>
        <c:axId val="59675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9674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7007033940673257"/>
          <c:y val="2.5152854341454454E-2"/>
          <c:w val="0.42326122714760089"/>
          <c:h val="5.305717347770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  <c:userShapes r:id="rId2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082859377159486E-2"/>
          <c:y val="4.9584873099815914E-2"/>
          <c:w val="0.83312030818376959"/>
          <c:h val="0.8940177021901286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'To ppt p.11_Top 20'!$D$2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'To ppt p.11_Top 20'!$C$3:$C$22</c:f>
              <c:strCache>
                <c:ptCount val="9"/>
                <c:pt idx="0">
                  <c:v>NINGBO FUTURE HOUSEWARE CO.,LTD.</c:v>
                </c:pt>
                <c:pt idx="1">
                  <c:v>NINGBO HAODING IMP&amp;EXP CO.,LTD</c:v>
                </c:pt>
                <c:pt idx="2">
                  <c:v>HOME ACCENTS FLORAL &amp; CRAFT LIMITED</c:v>
                </c:pt>
                <c:pt idx="3">
                  <c:v>BEST RAINBOW LIMITED</c:v>
                </c:pt>
                <c:pt idx="4">
                  <c:v>MINHOU XINGCHENG ARTS AND CRAFTS CO., LTD.</c:v>
                </c:pt>
                <c:pt idx="5">
                  <c:v>QINGDAO SUNHOME TRADING CO.,LTD</c:v>
                </c:pt>
                <c:pt idx="6">
                  <c:v>HANGZHOU J-HOMES CO. 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20'!$D$3:$D$22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4F7D-4E6B-AA61-AD028212167B}"/>
            </c:ext>
          </c:extLst>
        </c:ser>
        <c:ser>
          <c:idx val="1"/>
          <c:order val="1"/>
          <c:tx>
            <c:strRef>
              <c:f>'To ppt p.11_Top 20'!$E$2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'To ppt p.11_Top 20'!$C$3:$C$22</c:f>
              <c:strCache>
                <c:ptCount val="9"/>
                <c:pt idx="0">
                  <c:v>NINGBO FUTURE HOUSEWARE CO.,LTD.</c:v>
                </c:pt>
                <c:pt idx="1">
                  <c:v>NINGBO HAODING IMP&amp;EXP CO.,LTD</c:v>
                </c:pt>
                <c:pt idx="2">
                  <c:v>HOME ACCENTS FLORAL &amp; CRAFT LIMITED</c:v>
                </c:pt>
                <c:pt idx="3">
                  <c:v>BEST RAINBOW LIMITED</c:v>
                </c:pt>
                <c:pt idx="4">
                  <c:v>MINHOU XINGCHENG ARTS AND CRAFTS CO., LTD.</c:v>
                </c:pt>
                <c:pt idx="5">
                  <c:v>QINGDAO SUNHOME TRADING CO.,LTD</c:v>
                </c:pt>
                <c:pt idx="6">
                  <c:v>HANGZHOU J-HOMES CO. 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20'!$E$3:$E$22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1-4F7D-4E6B-AA61-AD028212167B}"/>
            </c:ext>
          </c:extLst>
        </c:ser>
        <c:ser>
          <c:idx val="2"/>
          <c:order val="2"/>
          <c:tx>
            <c:strRef>
              <c:f>'To ppt p.11_Top 20'!$F$2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'To ppt p.11_Top 20'!$C$3:$C$22</c:f>
              <c:strCache>
                <c:ptCount val="9"/>
                <c:pt idx="0">
                  <c:v>NINGBO FUTURE HOUSEWARE CO.,LTD.</c:v>
                </c:pt>
                <c:pt idx="1">
                  <c:v>NINGBO HAODING IMP&amp;EXP CO.,LTD</c:v>
                </c:pt>
                <c:pt idx="2">
                  <c:v>HOME ACCENTS FLORAL &amp; CRAFT LIMITED</c:v>
                </c:pt>
                <c:pt idx="3">
                  <c:v>BEST RAINBOW LIMITED</c:v>
                </c:pt>
                <c:pt idx="4">
                  <c:v>MINHOU XINGCHENG ARTS AND CRAFTS CO., LTD.</c:v>
                </c:pt>
                <c:pt idx="5">
                  <c:v>QINGDAO SUNHOME TRADING CO.,LTD</c:v>
                </c:pt>
                <c:pt idx="6">
                  <c:v>HANGZHOU J-HOMES CO. 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20'!$F$3:$F$22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2-4F7D-4E6B-AA61-AD028212167B}"/>
            </c:ext>
          </c:extLst>
        </c:ser>
        <c:ser>
          <c:idx val="3"/>
          <c:order val="3"/>
          <c:tx>
            <c:strRef>
              <c:f>'To ppt p.11_Top 20'!$G$2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'To ppt p.11_Top 20'!$C$3:$C$22</c:f>
              <c:strCache>
                <c:ptCount val="9"/>
                <c:pt idx="0">
                  <c:v>NINGBO FUTURE HOUSEWARE CO.,LTD.</c:v>
                </c:pt>
                <c:pt idx="1">
                  <c:v>NINGBO HAODING IMP&amp;EXP CO.,LTD</c:v>
                </c:pt>
                <c:pt idx="2">
                  <c:v>HOME ACCENTS FLORAL &amp; CRAFT LIMITED</c:v>
                </c:pt>
                <c:pt idx="3">
                  <c:v>BEST RAINBOW LIMITED</c:v>
                </c:pt>
                <c:pt idx="4">
                  <c:v>MINHOU XINGCHENG ARTS AND CRAFTS CO., LTD.</c:v>
                </c:pt>
                <c:pt idx="5">
                  <c:v>QINGDAO SUNHOME TRADING CO.,LTD</c:v>
                </c:pt>
                <c:pt idx="6">
                  <c:v>HANGZHOU J-HOMES CO. LTD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20'!$G$3:$G$22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3-4F7D-4E6B-AA61-AD0282121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6771200"/>
        <c:axId val="596772736"/>
      </c:barChart>
      <c:catAx>
        <c:axId val="596771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6772736"/>
        <c:crosses val="autoZero"/>
        <c:auto val="1"/>
        <c:lblAlgn val="ctr"/>
        <c:lblOffset val="100"/>
        <c:noMultiLvlLbl val="0"/>
      </c:catAx>
      <c:valAx>
        <c:axId val="596772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96771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  <c:userShapes r:id="rId2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36938752836984E-2"/>
          <c:y val="3.4176617517901749E-2"/>
          <c:w val="0.73065922569449959"/>
          <c:h val="0.88798876599658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'To ppt p.11_Top 20'!$H$2</c:f>
              <c:strCache>
                <c:ptCount val="1"/>
                <c:pt idx="0">
                  <c:v>No. of reports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'To ppt p.11_Top 20'!$C$3:$C$22</c:f>
              <c:strCache>
                <c:ptCount val="9"/>
                <c:pt idx="0">
                  <c:v>BEST RAINBOW LIMITED</c:v>
                </c:pt>
                <c:pt idx="1">
                  <c:v>HOME ACCENTS FLORAL &amp; CRAFT LIMITED</c:v>
                </c:pt>
                <c:pt idx="2">
                  <c:v>NINGBO FUTURE HOUSEWARE CO.,LTD.</c:v>
                </c:pt>
                <c:pt idx="3">
                  <c:v>NINGBO HAODING IMP&amp;EXP CO.,LTD</c:v>
                </c:pt>
                <c:pt idx="4">
                  <c:v>QINGDAO SUNHOME TRADING CO.,LTD</c:v>
                </c:pt>
                <c:pt idx="5">
                  <c:v>HANGZHOU J-HOMES CO. LTD</c:v>
                </c:pt>
                <c:pt idx="6">
                  <c:v>MINHOU XINGCHENG ARTS AND CRAFTS CO., LTD.</c:v>
                </c:pt>
                <c:pt idx="7">
                  <c:v>HANGZHOU DESIGN IMPORT &amp; EXPORT CO., LTD.</c:v>
                </c:pt>
                <c:pt idx="8">
                  <c:v>LITBRIGHT CANDLE (SHIJIAZHUANG) CO., LTD</c:v>
                </c:pt>
              </c:strCache>
            </c:strRef>
          </c:cat>
          <c:val>
            <c:numRef>
              <c:f>'To ppt p.11_Top 20'!$H$3:$H$22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0-E78A-4BE4-8BE3-31F6C7A50C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6809984"/>
        <c:axId val="596815872"/>
      </c:barChart>
      <c:catAx>
        <c:axId val="59680998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crossAx val="596815872"/>
        <c:crosses val="autoZero"/>
        <c:auto val="1"/>
        <c:lblAlgn val="ctr"/>
        <c:lblOffset val="100"/>
        <c:noMultiLvlLbl val="0"/>
      </c:catAx>
      <c:valAx>
        <c:axId val="596815872"/>
        <c:scaling>
          <c:orientation val="minMax"/>
          <c:max val="9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5968099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  <c:userShapes r:id="rId2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832004858978043E-2"/>
          <c:y val="9.7995596481591923E-2"/>
          <c:w val="0.57468638293192897"/>
          <c:h val="0.86202957439789352"/>
        </c:manualLayout>
      </c:layout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effectLst>
                <a:glow>
                  <a:srgbClr val="92D050">
                    <a:alpha val="40000"/>
                  </a:srgbClr>
                </a:glow>
              </a:effectLst>
            </c:spPr>
  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  <c:ext xmlns:c16="http://schemas.microsoft.com/office/drawing/2014/chart" uri="{C3380CC4-5D6E-409C-BE32-E72D297353CC}">
                <c16:uniqueId val="{00000001-8EAB-48B9-BCEE-467DC5A0F130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</c:spPr>
  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  <c:ext xmlns:c16="http://schemas.microsoft.com/office/drawing/2014/chart" uri="{C3380CC4-5D6E-409C-BE32-E72D297353CC}">
                <c16:uniqueId val="{00000003-8EAB-48B9-BCEE-467DC5A0F130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  <c:ext xmlns:c16="http://schemas.microsoft.com/office/drawing/2014/chart" uri="{C3380CC4-5D6E-409C-BE32-E72D297353CC}">
                <c16:uniqueId val="{00000005-8EAB-48B9-BCEE-467DC5A0F130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412-429F-9BA5-D930EFB42279}"/>
              </c:ext>
            </c:extLst>
          </c:dPt>
          <c:cat>
            <c:strRef>
              <c:f>Feuil1!$A$2:$A$5</c:f>
              <c:strCache>
                <c:ptCount val="4"/>
                <c:pt idx="0">
                  <c:v>Pass</c:v>
                </c:pt>
                <c:pt idx="1">
                  <c:v>Fail</c:v>
                </c:pt>
                <c:pt idx="2">
                  <c:v>Pending</c:v>
                </c:pt>
                <c:pt idx="3">
                  <c:v>Missing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17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6-8EAB-48B9-BCEE-467DC5A0F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egendEntry>
        <c:idx val="0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egendEntry>
        <c:idx val="1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egendEntry>
        <c:idx val="2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egendEntry>
        <c:idx val="3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ayout>
        <c:manualLayout>
          <c:xMode val="edge"/>
          <c:yMode val="edge"/>
          <c:x val="0.54792047959583445"/>
          <c:y val="0.21262793102308622"/>
          <c:w val="0.36979626532724436"/>
          <c:h val="0.7873720689769138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userShapes r:id="rId2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832004858978043E-2"/>
          <c:y val="9.7995596481591923E-2"/>
          <c:w val="0.57468638293192897"/>
          <c:h val="0.86202957439789352"/>
        </c:manualLayout>
      </c:layout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effectLst>
                <a:glow>
                  <a:srgbClr val="92D050">
                    <a:alpha val="40000"/>
                  </a:srgbClr>
                </a:glow>
              </a:effectLst>
            </c:spPr>
  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  <c:ext xmlns:c16="http://schemas.microsoft.com/office/drawing/2014/chart" uri="{C3380CC4-5D6E-409C-BE32-E72D297353CC}">
                <c16:uniqueId val="{00000001-8EAB-48B9-BCEE-467DC5A0F130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</c:spPr>
  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  <c:ext xmlns:c16="http://schemas.microsoft.com/office/drawing/2014/chart" uri="{C3380CC4-5D6E-409C-BE32-E72D297353CC}">
                <c16:uniqueId val="{00000003-8EAB-48B9-BCEE-467DC5A0F130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  <c:ext xmlns:c16="http://schemas.microsoft.com/office/drawing/2014/chart" uri="{C3380CC4-5D6E-409C-BE32-E72D297353CC}">
                <c16:uniqueId val="{00000005-8EAB-48B9-BCEE-467DC5A0F130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D25-4A38-9A46-E148AE05C441}"/>
              </c:ext>
            </c:extLst>
          </c:dPt>
          <c:cat>
            <c:strRef>
              <c:f>Feuil1!$A$2:$A$5</c:f>
              <c:strCache>
                <c:ptCount val="4"/>
                <c:pt idx="0">
                  <c:v>Pass</c:v>
                </c:pt>
                <c:pt idx="1">
                  <c:v>Fail</c:v>
                </c:pt>
                <c:pt idx="2">
                  <c:v>Pending</c:v>
                </c:pt>
                <c:pt idx="3">
                  <c:v>Missing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17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6r2="http://schemas.microsoft.com/office/drawing/2015/06/chart"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6-8EAB-48B9-BCEE-467DC5A0F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egendEntry>
        <c:idx val="0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egendEntry>
        <c:idx val="1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egendEntry>
        <c:idx val="2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egendEntry>
        <c:idx val="3"/>
        <c:txPr>
          <a:bodyPr/>
          <a:lstStyle/>
          <a:p>
            <a:pPr>
              <a:defRPr sz="1200" baseline="0"/>
            </a:pPr>
            <a:endParaRPr lang="fr-FR"/>
          </a:p>
        </c:txPr>
      </c:legendEntry>
      <c:layout>
        <c:manualLayout>
          <c:xMode val="edge"/>
          <c:yMode val="edge"/>
          <c:x val="0.54792047959583445"/>
          <c:y val="0.21262793102308622"/>
          <c:w val="0.36979626532724436"/>
          <c:h val="0.7873720689769138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0.21162</cdr:x>
      <cdr:y>0.40536</cdr:y>
    </cdr:from>
    <cdr:to>
      <cdr:x>0.47767</cdr:x>
      <cdr:y>0.50225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893668" y="965709"/>
          <a:ext cx="1123529" cy="230806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[CHART:MDBCC]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0.09051</cdr:x>
      <cdr:y>0.75639</cdr:y>
    </cdr:from>
    <cdr:to>
      <cdr:x>0.21115</cdr:x>
      <cdr:y>0.94722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842876" y="914897"/>
          <a:ext cx="1123508" cy="230822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[CHART:IBMMD]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0.05716</cdr:x>
      <cdr:y>0.46643</cdr:y>
    </cdr:from>
    <cdr:to>
      <cdr:x>0.15473</cdr:x>
      <cdr:y>0.67412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658122" y="518411"/>
          <a:ext cx="1123466" cy="23082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[CHART:IBMC1]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0.20292</cdr:x>
      <cdr:y>0.43997</cdr:y>
    </cdr:from>
    <cdr:to>
      <cdr:x>0.30111</cdr:x>
      <cdr:y>0.67112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2321898" y="439358"/>
          <a:ext cx="1123499" cy="230829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[CHART:IBMC2]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0.2386</cdr:x>
      <cdr:y>0.38753</cdr:y>
    </cdr:from>
    <cdr:to>
      <cdr:x>0.33617</cdr:x>
      <cdr:y>0.58132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2747288" y="461565"/>
          <a:ext cx="1123467" cy="230820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[CHART:IBMC3]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0.09869</cdr:x>
      <cdr:y>0.1754</cdr:y>
    </cdr:from>
    <cdr:to>
      <cdr:x>0.21933</cdr:x>
      <cdr:y>0.36623</cdr:y>
    </cdr:to>
    <cdr:sp macro="" textlink="">
      <cdr:nvSpPr>
        <cdr:cNvPr id="3" name="ZoneTexte 1"/>
        <cdr:cNvSpPr txBox="1"/>
      </cdr:nvSpPr>
      <cdr:spPr bwMode="auto">
        <a:xfrm xmlns:a="http://schemas.openxmlformats.org/drawingml/2006/main">
          <a:off x="919087" y="212158"/>
          <a:ext cx="1123508" cy="230822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[CHART:IBDMD]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0.10483</cdr:x>
      <cdr:y>0.22419</cdr:y>
    </cdr:from>
    <cdr:to>
      <cdr:x>0.20241</cdr:x>
      <cdr:y>0.43187</cdr:y>
    </cdr:to>
    <cdr:sp macro="" textlink="">
      <cdr:nvSpPr>
        <cdr:cNvPr id="3" name="ZoneTexte 1"/>
        <cdr:cNvSpPr txBox="1"/>
      </cdr:nvSpPr>
      <cdr:spPr bwMode="auto">
        <a:xfrm xmlns:a="http://schemas.openxmlformats.org/drawingml/2006/main">
          <a:off x="1206996" y="249173"/>
          <a:ext cx="1123582" cy="230827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[CHART:IBDC1]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0.17798</cdr:x>
      <cdr:y>0.41685</cdr:y>
    </cdr:from>
    <cdr:to>
      <cdr:x>0.27618</cdr:x>
      <cdr:y>0.64799</cdr:y>
    </cdr:to>
    <cdr:sp macro="" textlink="">
      <cdr:nvSpPr>
        <cdr:cNvPr id="5" name="ZoneTexte 1"/>
        <cdr:cNvSpPr txBox="1"/>
      </cdr:nvSpPr>
      <cdr:spPr bwMode="auto">
        <a:xfrm xmlns:a="http://schemas.openxmlformats.org/drawingml/2006/main">
          <a:off x="2036492" y="416273"/>
          <a:ext cx="1123613" cy="230819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[CHART:IBDC2]</a:t>
          </a: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0.16055</cdr:x>
      <cdr:y>0.31</cdr:y>
    </cdr:from>
    <cdr:to>
      <cdr:x>0.25813</cdr:x>
      <cdr:y>0.5038</cdr:y>
    </cdr:to>
    <cdr:sp macro="" textlink="">
      <cdr:nvSpPr>
        <cdr:cNvPr id="3" name="ZoneTexte 1"/>
        <cdr:cNvSpPr txBox="1"/>
      </cdr:nvSpPr>
      <cdr:spPr bwMode="auto">
        <a:xfrm xmlns:a="http://schemas.openxmlformats.org/drawingml/2006/main">
          <a:off x="1848666" y="369232"/>
          <a:ext cx="1123582" cy="230820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[CHART:IBDC3]</a:t>
          </a: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0.19481</cdr:x>
      <cdr:y>0.07034</cdr:y>
    </cdr:from>
    <cdr:to>
      <cdr:x>0.87013</cdr:x>
      <cdr:y>0.15587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080120" y="347751"/>
          <a:ext cx="3744416" cy="4228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r>
            <a:rPr lang="en-US" sz="1600" b="1" dirty="0"/>
            <a:t>OVERALL RESULTS</a:t>
          </a:r>
          <a:r>
            <a:rPr lang="en-US" sz="1600" b="1" baseline="0" dirty="0"/>
            <a:t> BY CATEGORY</a:t>
          </a:r>
          <a:endParaRPr lang="en-US" sz="1600" b="1" dirty="0"/>
        </a:p>
      </cdr:txBody>
    </cdr:sp>
  </cdr:relSizeAnchor>
  <cdr:relSizeAnchor xmlns:cdr="http://schemas.openxmlformats.org/drawingml/2006/chartDrawing">
    <cdr:from>
      <cdr:x>0.28256</cdr:x>
      <cdr:y>0.6343</cdr:y>
    </cdr:from>
    <cdr:to>
      <cdr:x>0.48469</cdr:x>
      <cdr:y>0.67937</cdr:y>
    </cdr:to>
    <cdr:sp macro="" textlink="">
      <cdr:nvSpPr>
        <cdr:cNvPr id="3" name="ZoneTexte 1"/>
        <cdr:cNvSpPr txBox="1"/>
      </cdr:nvSpPr>
      <cdr:spPr bwMode="auto">
        <a:xfrm xmlns:a="http://schemas.openxmlformats.org/drawingml/2006/main">
          <a:off x="1570702" y="3248972"/>
          <a:ext cx="1123561" cy="23082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[CHART:OPRAC]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0.19481</cdr:x>
      <cdr:y>0.07034</cdr:y>
    </cdr:from>
    <cdr:to>
      <cdr:x>0.87013</cdr:x>
      <cdr:y>0.15587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080120" y="347751"/>
          <a:ext cx="3744416" cy="4228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r>
            <a:rPr lang="en-US" sz="1600" b="1" dirty="0"/>
            <a:t>OVERALL RESULTS</a:t>
          </a:r>
          <a:r>
            <a:rPr lang="en-US" sz="1600" b="1" baseline="0" dirty="0"/>
            <a:t> BY</a:t>
          </a:r>
          <a:r>
            <a:rPr lang="en-US" sz="1600" b="1" dirty="0"/>
            <a:t> DEPARTMENT</a:t>
          </a:r>
        </a:p>
      </cdr:txBody>
    </cdr:sp>
  </cdr:relSizeAnchor>
  <cdr:relSizeAnchor xmlns:cdr="http://schemas.openxmlformats.org/drawingml/2006/chartDrawing">
    <cdr:from>
      <cdr:x>0.28256</cdr:x>
      <cdr:y>0.6343</cdr:y>
    </cdr:from>
    <cdr:to>
      <cdr:x>0.48469</cdr:x>
      <cdr:y>0.67937</cdr:y>
    </cdr:to>
    <cdr:sp macro="" textlink="">
      <cdr:nvSpPr>
        <cdr:cNvPr id="3" name="ZoneTexte 1"/>
        <cdr:cNvSpPr txBox="1"/>
      </cdr:nvSpPr>
      <cdr:spPr bwMode="auto">
        <a:xfrm xmlns:a="http://schemas.openxmlformats.org/drawingml/2006/main">
          <a:off x="1570702" y="3248972"/>
          <a:ext cx="1123561" cy="23082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[CHART:OPRAD]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0.18943</cdr:x>
      <cdr:y>0.24776</cdr:y>
    </cdr:from>
    <cdr:to>
      <cdr:x>0.39287</cdr:x>
      <cdr:y>0.29891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1046109" y="1118075"/>
          <a:ext cx="1123488" cy="230821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[CHART:SPLY]</a:t>
          </a: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0.38379</cdr:x>
      <cdr:y>0.28523</cdr:y>
    </cdr:from>
    <cdr:to>
      <cdr:x>0.77691</cdr:x>
      <cdr:y>0.34156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1096886" y="1168878"/>
          <a:ext cx="1123540" cy="230826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[CHART:SPCY]</a:t>
          </a:r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0.37852</cdr:x>
      <cdr:y>0.29763</cdr:y>
    </cdr:from>
    <cdr:to>
      <cdr:x>0.74906</cdr:x>
      <cdr:y>0.35395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1147696" y="1219687"/>
          <a:ext cx="1123511" cy="230826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[CHART:SPNR]</a:t>
          </a:r>
        </a:p>
      </cdr:txBody>
    </cdr: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0.17759</cdr:x>
      <cdr:y>0.48544</cdr:y>
    </cdr:from>
    <cdr:to>
      <cdr:x>0.58714</cdr:x>
      <cdr:y>0.66662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487187" y="618474"/>
          <a:ext cx="1123514" cy="230832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[CHART:CSOPCCY]</a:t>
          </a:r>
        </a:p>
      </cdr:txBody>
    </cdr: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0.25475</cdr:x>
      <cdr:y>0.60506</cdr:y>
    </cdr:from>
    <cdr:to>
      <cdr:x>0.6643</cdr:x>
      <cdr:y>0.78624</cdr:y>
    </cdr:to>
    <cdr:sp macro="" textlink="">
      <cdr:nvSpPr>
        <cdr:cNvPr id="2" name="ZoneTexte 1"/>
        <cdr:cNvSpPr txBox="1"/>
      </cdr:nvSpPr>
      <cdr:spPr bwMode="auto">
        <a:xfrm xmlns:a="http://schemas.openxmlformats.org/drawingml/2006/main">
          <a:off x="698866" y="770875"/>
          <a:ext cx="1123499" cy="23082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fr-FR" sz="900" b="1" dirty="0">
              <a:latin typeface="Calibri" pitchFamily="34" charset="0"/>
            </a:rPr>
            <a:t>[CHART:CSOPC]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531D3-BACB-074F-9D60-592ADD83F5F1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22FBF-C005-974D-BFBA-8E75D9D0AB7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4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22FBF-C005-974D-BFBA-8E75D9D0AB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6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F6AC2-954B-4624-B8AD-FB164140F42F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30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F6AC2-954B-4624-B8AD-FB164140F42F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006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F6AC2-954B-4624-B8AD-FB164140F42F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40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F6AC2-954B-4624-B8AD-FB164140F42F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401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F6AC2-954B-4624-B8AD-FB164140F42F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666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F6AC2-954B-4624-B8AD-FB164140F42F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66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7D693D7-25AE-164A-9399-DECE8A4BF06F}"/>
              </a:ext>
            </a:extLst>
          </p:cNvPr>
          <p:cNvSpPr txBox="1"/>
          <p:nvPr userDrawn="1"/>
        </p:nvSpPr>
        <p:spPr>
          <a:xfrm>
            <a:off x="10662547" y="6521183"/>
            <a:ext cx="14004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Strictly Confidential 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BF92A1-2476-4E41-85C4-B857763A349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43201" y="5775767"/>
            <a:ext cx="4132162" cy="2314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2D56AFBA-1D06-354E-8069-1EAF62F2F11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3201" y="5891514"/>
            <a:ext cx="4132162" cy="55498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5298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DE217B7-8E24-0F4D-8719-1E79A6180A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97039" y="6291925"/>
            <a:ext cx="179435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SECTION TITLE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5BCB55-3B42-3D41-837D-6665CF110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7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D7047D6-FE41-F14E-A5E1-140020E862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98126" y="6291925"/>
            <a:ext cx="1793267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SECTION TITLE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5C3489-BE2D-F342-84A4-8BE75656DE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C9B354DB-672E-2349-818A-8F9BA82BA6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"/>
            <a:ext cx="3789036" cy="568153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5130116-B91A-744C-992A-D1C343E11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863" y="1488709"/>
            <a:ext cx="718457" cy="4054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F9359DB-0549-DC4E-85A2-5445FBE3D77F}"/>
              </a:ext>
            </a:extLst>
          </p:cNvPr>
          <p:cNvCxnSpPr>
            <a:cxnSpLocks/>
          </p:cNvCxnSpPr>
          <p:nvPr userDrawn="1"/>
        </p:nvCxnSpPr>
        <p:spPr>
          <a:xfrm>
            <a:off x="4983538" y="1568486"/>
            <a:ext cx="0" cy="452159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97DAF382-D730-7543-99EE-DC83C360587E}"/>
              </a:ext>
            </a:extLst>
          </p:cNvPr>
          <p:cNvCxnSpPr>
            <a:cxnSpLocks/>
          </p:cNvCxnSpPr>
          <p:nvPr userDrawn="1"/>
        </p:nvCxnSpPr>
        <p:spPr>
          <a:xfrm>
            <a:off x="9259385" y="1568486"/>
            <a:ext cx="0" cy="452159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8">
            <a:extLst>
              <a:ext uri="{FF2B5EF4-FFF2-40B4-BE49-F238E27FC236}">
                <a16:creationId xmlns:a16="http://schemas.microsoft.com/office/drawing/2014/main" xmlns="" id="{1346EC97-50C1-2342-827F-473DDF1D4E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20757" y="1488709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xmlns="" id="{D744C6AA-A193-EB45-9506-85C2C61979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0757" y="1867985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3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  <a:p>
            <a:pPr lvl="0"/>
            <a:r>
              <a:rPr lang="en-US" dirty="0"/>
              <a:t>Part 2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D77ACA2C-A70C-5C49-BB63-E69600452A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7863" y="2990938"/>
            <a:ext cx="718457" cy="4054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xmlns="" id="{6301D808-486B-C54A-9257-6B4837C79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20757" y="2990938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xmlns="" id="{42271FE9-D25A-4240-B6A2-8135EB4008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20757" y="3370214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3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  <a:p>
            <a:pPr lvl="0"/>
            <a:r>
              <a:rPr lang="en-US" dirty="0"/>
              <a:t>Part 2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xmlns="" id="{5414D64D-3F83-1944-A95C-D3F3194FA8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27863" y="4322383"/>
            <a:ext cx="718457" cy="4054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xmlns="" id="{A0069D59-323A-A548-B27F-D6D3E7A271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20757" y="4322383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xmlns="" id="{5C8EED6D-2AC7-B04E-94FB-9CFE093CE0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20757" y="4701659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3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  <a:p>
            <a:pPr lvl="0"/>
            <a:r>
              <a:rPr lang="en-US" dirty="0"/>
              <a:t>Part 2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xmlns="" id="{D16EFDAE-3FE2-5A43-BBDA-7DE65DB618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47167" y="3617956"/>
            <a:ext cx="783772" cy="4054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xmlns="" id="{1506ABAE-B420-DB44-8738-E789E6FD4F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05375" y="3617956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xmlns="" id="{4C6103D5-D2C0-3C41-8E42-01EA4BC006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5375" y="3997232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3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  <a:p>
            <a:pPr lvl="0"/>
            <a:r>
              <a:rPr lang="en-US" dirty="0"/>
              <a:t>Part 2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xmlns="" id="{58F14B89-87AB-8A48-973F-E522D368E9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47167" y="4636858"/>
            <a:ext cx="783772" cy="4054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xmlns="" id="{A8CD7331-48F1-8648-A1E3-2DD64FB8FE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05375" y="4636858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xmlns="" id="{F67929AF-CF4F-E04D-A623-0793CBF0C12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05375" y="5016134"/>
            <a:ext cx="2821460" cy="4054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3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  <a:p>
            <a:pPr lvl="0"/>
            <a:r>
              <a:rPr lang="en-US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164926694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00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54355D3-6275-C543-8761-4BB0FB58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97039" y="6291925"/>
            <a:ext cx="179435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SECTION TITLE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204626A-A25A-904F-BBE8-1A82751F93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01FFB482-BA15-6F4D-BD3D-81914A42D2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47738"/>
            <a:ext cx="7196138" cy="45672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8D1B72ED-5690-6F46-A73F-3F4B91F0C21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751888" y="2771048"/>
            <a:ext cx="2952750" cy="26091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xmlns="" id="{EC00BC61-2B71-3942-A16F-37054214320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51888" y="3213462"/>
            <a:ext cx="2952750" cy="38036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6" name="Round Diagonal Corner Rectangle 5">
            <a:extLst>
              <a:ext uri="{FF2B5EF4-FFF2-40B4-BE49-F238E27FC236}">
                <a16:creationId xmlns:a16="http://schemas.microsoft.com/office/drawing/2014/main" xmlns="" id="{2C1657DA-0431-FB4C-8358-AE7B5E5F5F71}"/>
              </a:ext>
            </a:extLst>
          </p:cNvPr>
          <p:cNvSpPr/>
          <p:nvPr userDrawn="1"/>
        </p:nvSpPr>
        <p:spPr>
          <a:xfrm>
            <a:off x="6756970" y="1329463"/>
            <a:ext cx="1702494" cy="1702494"/>
          </a:xfrm>
          <a:prstGeom prst="round2Diag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9069B349-D076-4544-913B-AAE6835AAF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20355" y="1329463"/>
            <a:ext cx="1162639" cy="73183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5400"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2052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xmlns="" id="{B72AF977-6A1D-994F-9F94-EF11167FB38B}"/>
              </a:ext>
            </a:extLst>
          </p:cNvPr>
          <p:cNvSpPr/>
          <p:nvPr userDrawn="1"/>
        </p:nvSpPr>
        <p:spPr>
          <a:xfrm>
            <a:off x="441389" y="1058091"/>
            <a:ext cx="3696789" cy="2090058"/>
          </a:xfrm>
          <a:prstGeom prst="round2Diag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309D1DE-BD31-7C42-A54C-B5B0F399B9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97039" y="6291925"/>
            <a:ext cx="179435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SECTION TITLE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B1AA91C-209F-9543-9013-B4C0AFBDD0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B0C5C51D-FBC1-2A4C-BC0A-8CAD89B6597A}"/>
              </a:ext>
            </a:extLst>
          </p:cNvPr>
          <p:cNvCxnSpPr/>
          <p:nvPr userDrawn="1"/>
        </p:nvCxnSpPr>
        <p:spPr>
          <a:xfrm>
            <a:off x="441390" y="832262"/>
            <a:ext cx="2886075" cy="0"/>
          </a:xfrm>
          <a:prstGeom prst="line">
            <a:avLst/>
          </a:prstGeom>
          <a:ln w="19050">
            <a:solidFill>
              <a:srgbClr val="D01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FB38EED-4057-084E-A599-C8B77FB4FF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125" y="4773373"/>
            <a:ext cx="482600" cy="254000"/>
          </a:xfrm>
          <a:prstGeom prst="rect">
            <a:avLst/>
          </a:prstGeom>
          <a:ln>
            <a:solidFill>
              <a:srgbClr val="D0131D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CE4E6EF6-1889-7E4E-ABBF-187DB33401C9}"/>
              </a:ext>
            </a:extLst>
          </p:cNvPr>
          <p:cNvCxnSpPr>
            <a:cxnSpLocks/>
          </p:cNvCxnSpPr>
          <p:nvPr userDrawn="1"/>
        </p:nvCxnSpPr>
        <p:spPr>
          <a:xfrm>
            <a:off x="634430" y="2904902"/>
            <a:ext cx="8692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xmlns="" id="{BD1BBEC0-F9AE-E54D-9271-B11D92D61E24}"/>
              </a:ext>
            </a:extLst>
          </p:cNvPr>
          <p:cNvSpPr/>
          <p:nvPr userDrawn="1"/>
        </p:nvSpPr>
        <p:spPr>
          <a:xfrm>
            <a:off x="4282819" y="1058091"/>
            <a:ext cx="3696789" cy="2090058"/>
          </a:xfrm>
          <a:prstGeom prst="round2Diag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6227FC6D-E0A9-384D-9111-264071E75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2555" y="4773373"/>
            <a:ext cx="482600" cy="254000"/>
          </a:xfrm>
          <a:prstGeom prst="rect">
            <a:avLst/>
          </a:prstGeom>
          <a:ln>
            <a:solidFill>
              <a:srgbClr val="D0131D"/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CC0B5ADA-A1A7-5248-8029-361396D2D8C6}"/>
              </a:ext>
            </a:extLst>
          </p:cNvPr>
          <p:cNvCxnSpPr>
            <a:cxnSpLocks/>
          </p:cNvCxnSpPr>
          <p:nvPr userDrawn="1"/>
        </p:nvCxnSpPr>
        <p:spPr>
          <a:xfrm>
            <a:off x="4475860" y="2904902"/>
            <a:ext cx="8692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 Diagonal Corner Rectangle 20">
            <a:extLst>
              <a:ext uri="{FF2B5EF4-FFF2-40B4-BE49-F238E27FC236}">
                <a16:creationId xmlns:a16="http://schemas.microsoft.com/office/drawing/2014/main" xmlns="" id="{9902B723-1E02-F445-9073-5343B8375C3A}"/>
              </a:ext>
            </a:extLst>
          </p:cNvPr>
          <p:cNvSpPr/>
          <p:nvPr userDrawn="1"/>
        </p:nvSpPr>
        <p:spPr>
          <a:xfrm>
            <a:off x="8135412" y="1058091"/>
            <a:ext cx="3696789" cy="2090058"/>
          </a:xfrm>
          <a:prstGeom prst="round2Diag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D3873C6C-9E44-FF4F-AA9D-6FA56A0B4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148" y="4773373"/>
            <a:ext cx="482600" cy="254000"/>
          </a:xfrm>
          <a:prstGeom prst="rect">
            <a:avLst/>
          </a:prstGeom>
          <a:ln>
            <a:solidFill>
              <a:srgbClr val="D0131D"/>
            </a:solidFill>
          </a:ln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0E4A9932-91A6-7048-B011-81A929BEB449}"/>
              </a:ext>
            </a:extLst>
          </p:cNvPr>
          <p:cNvCxnSpPr>
            <a:cxnSpLocks/>
          </p:cNvCxnSpPr>
          <p:nvPr userDrawn="1"/>
        </p:nvCxnSpPr>
        <p:spPr>
          <a:xfrm>
            <a:off x="8328453" y="2904902"/>
            <a:ext cx="8692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xmlns="" id="{53EE2290-D5A9-6B42-A7A5-CCE46CC208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41325" y="352931"/>
            <a:ext cx="3033713" cy="4376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 i="0">
                <a:solidFill>
                  <a:srgbClr val="D2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5" name="Content Placeholder 33">
            <a:extLst>
              <a:ext uri="{FF2B5EF4-FFF2-40B4-BE49-F238E27FC236}">
                <a16:creationId xmlns:a16="http://schemas.microsoft.com/office/drawing/2014/main" xmlns="" id="{675D7EC9-CC23-1A4F-8183-472B68B5964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4319" y="352931"/>
            <a:ext cx="7489280" cy="4376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0" i="0">
                <a:solidFill>
                  <a:srgbClr val="D2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- Key Description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xmlns="" id="{D1B0879E-C071-4C40-9948-125C2781DA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325" y="3305175"/>
            <a:ext cx="3697288" cy="1136650"/>
          </a:xfrm>
          <a:prstGeom prst="rect">
            <a:avLst/>
          </a:prstGeom>
        </p:spPr>
        <p:txBody>
          <a:bodyPr/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Bullet List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0"/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xmlns="" id="{05A5FE18-AD47-0744-AD3F-C32088BEF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325" y="5321652"/>
            <a:ext cx="3697288" cy="5302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D0131D"/>
                </a:solidFill>
              </a:defRPr>
            </a:lvl1pPr>
            <a:lvl2pPr>
              <a:defRPr>
                <a:solidFill>
                  <a:srgbClr val="C03329"/>
                </a:solidFill>
              </a:defRPr>
            </a:lvl2pPr>
            <a:lvl3pPr>
              <a:defRPr>
                <a:solidFill>
                  <a:srgbClr val="C03329"/>
                </a:solidFill>
              </a:defRPr>
            </a:lvl3pPr>
            <a:lvl4pPr>
              <a:defRPr>
                <a:solidFill>
                  <a:srgbClr val="C03329"/>
                </a:solidFill>
              </a:defRPr>
            </a:lvl4pPr>
            <a:lvl5pPr>
              <a:defRPr>
                <a:solidFill>
                  <a:srgbClr val="C03329"/>
                </a:solidFill>
              </a:defRPr>
            </a:lvl5pPr>
          </a:lstStyle>
          <a:p>
            <a:pPr lvl="0"/>
            <a:r>
              <a:rPr lang="en-US" dirty="0"/>
              <a:t>Highlight/Quote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017CAF8F-B382-004F-9E13-C9B5026D1CA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71972" y="2329507"/>
            <a:ext cx="2624909" cy="5254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DOUBLE LINE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xmlns="" id="{8B35C6FD-C73E-014E-A01A-2C902FC4C4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5679" y="3305175"/>
            <a:ext cx="3697288" cy="1136650"/>
          </a:xfrm>
          <a:prstGeom prst="rect">
            <a:avLst/>
          </a:prstGeom>
        </p:spPr>
        <p:txBody>
          <a:bodyPr/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Bullet List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0"/>
            <a:endParaRPr lang="en-US" dirty="0"/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xmlns="" id="{A0929B41-9F5A-5148-A474-7158508C3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55679" y="5321652"/>
            <a:ext cx="3697288" cy="5302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D0131D"/>
                </a:solidFill>
              </a:defRPr>
            </a:lvl1pPr>
            <a:lvl2pPr>
              <a:defRPr>
                <a:solidFill>
                  <a:srgbClr val="C03329"/>
                </a:solidFill>
              </a:defRPr>
            </a:lvl2pPr>
            <a:lvl3pPr>
              <a:defRPr>
                <a:solidFill>
                  <a:srgbClr val="C03329"/>
                </a:solidFill>
              </a:defRPr>
            </a:lvl3pPr>
            <a:lvl4pPr>
              <a:defRPr>
                <a:solidFill>
                  <a:srgbClr val="C03329"/>
                </a:solidFill>
              </a:defRPr>
            </a:lvl4pPr>
            <a:lvl5pPr>
              <a:defRPr>
                <a:solidFill>
                  <a:srgbClr val="C03329"/>
                </a:solidFill>
              </a:defRPr>
            </a:lvl5pPr>
          </a:lstStyle>
          <a:p>
            <a:pPr lvl="0"/>
            <a:r>
              <a:rPr lang="en-US" dirty="0"/>
              <a:t>Highlight/Quote</a:t>
            </a:r>
          </a:p>
        </p:txBody>
      </p:sp>
      <p:sp>
        <p:nvSpPr>
          <p:cNvPr id="44" name="Content Placeholder 40">
            <a:extLst>
              <a:ext uri="{FF2B5EF4-FFF2-40B4-BE49-F238E27FC236}">
                <a16:creationId xmlns:a16="http://schemas.microsoft.com/office/drawing/2014/main" xmlns="" id="{0EAA3DD3-9D5C-6842-961F-8448E4FD9B0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86326" y="2329507"/>
            <a:ext cx="2624909" cy="5254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DOUBLE LINE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45" name="Text Placeholder 36">
            <a:extLst>
              <a:ext uri="{FF2B5EF4-FFF2-40B4-BE49-F238E27FC236}">
                <a16:creationId xmlns:a16="http://schemas.microsoft.com/office/drawing/2014/main" xmlns="" id="{3F0F8E1A-B6FD-AD42-B04D-36553151CF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6159" y="3305175"/>
            <a:ext cx="3697288" cy="1136650"/>
          </a:xfrm>
          <a:prstGeom prst="rect">
            <a:avLst/>
          </a:prstGeom>
        </p:spPr>
        <p:txBody>
          <a:bodyPr/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Bullet List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0"/>
            <a:endParaRPr lang="en-US" dirty="0"/>
          </a:p>
        </p:txBody>
      </p:sp>
      <p:sp>
        <p:nvSpPr>
          <p:cNvPr id="46" name="Text Placeholder 38">
            <a:extLst>
              <a:ext uri="{FF2B5EF4-FFF2-40B4-BE49-F238E27FC236}">
                <a16:creationId xmlns:a16="http://schemas.microsoft.com/office/drawing/2014/main" xmlns="" id="{4B29D3D9-3974-D04F-B0A0-CD838E3CAA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6159" y="5321652"/>
            <a:ext cx="3697288" cy="5302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D0131D"/>
                </a:solidFill>
              </a:defRPr>
            </a:lvl1pPr>
            <a:lvl2pPr>
              <a:defRPr>
                <a:solidFill>
                  <a:srgbClr val="C03329"/>
                </a:solidFill>
              </a:defRPr>
            </a:lvl2pPr>
            <a:lvl3pPr>
              <a:defRPr>
                <a:solidFill>
                  <a:srgbClr val="C03329"/>
                </a:solidFill>
              </a:defRPr>
            </a:lvl3pPr>
            <a:lvl4pPr>
              <a:defRPr>
                <a:solidFill>
                  <a:srgbClr val="C03329"/>
                </a:solidFill>
              </a:defRPr>
            </a:lvl4pPr>
            <a:lvl5pPr>
              <a:defRPr>
                <a:solidFill>
                  <a:srgbClr val="C03329"/>
                </a:solidFill>
              </a:defRPr>
            </a:lvl5pPr>
          </a:lstStyle>
          <a:p>
            <a:pPr lvl="0"/>
            <a:r>
              <a:rPr lang="en-US" dirty="0"/>
              <a:t>Highlight/Quote</a:t>
            </a:r>
          </a:p>
        </p:txBody>
      </p:sp>
      <p:sp>
        <p:nvSpPr>
          <p:cNvPr id="47" name="Content Placeholder 40">
            <a:extLst>
              <a:ext uri="{FF2B5EF4-FFF2-40B4-BE49-F238E27FC236}">
                <a16:creationId xmlns:a16="http://schemas.microsoft.com/office/drawing/2014/main" xmlns="" id="{C9E62FA0-7F68-364C-AD38-46D65DB238C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226806" y="2329507"/>
            <a:ext cx="2624909" cy="5254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DOUBLE LINE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48" name="Content Placeholder 40">
            <a:extLst>
              <a:ext uri="{FF2B5EF4-FFF2-40B4-BE49-F238E27FC236}">
                <a16:creationId xmlns:a16="http://schemas.microsoft.com/office/drawing/2014/main" xmlns="" id="{8293A28D-6BCD-9249-84BF-F0F796BCA27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71972" y="1297541"/>
            <a:ext cx="3451388" cy="5254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*CUSTOM FRAMES MUST BE IMPORTED FROM OUTSIDE PROGRAM IE ADOBE ILLUSTRATOR</a:t>
            </a:r>
          </a:p>
        </p:txBody>
      </p:sp>
    </p:spTree>
    <p:extLst>
      <p:ext uri="{BB962C8B-B14F-4D97-AF65-F5344CB8AC3E}">
        <p14:creationId xmlns:p14="http://schemas.microsoft.com/office/powerpoint/2010/main" val="233554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5B811BA8-3FBC-2149-A538-C74EE2D5C2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1325" y="1866900"/>
            <a:ext cx="3424238" cy="41068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xmlns="" id="{D826B869-F3AF-A546-B4F7-DC7099392A10}"/>
              </a:ext>
            </a:extLst>
          </p:cNvPr>
          <p:cNvSpPr/>
          <p:nvPr userDrawn="1"/>
        </p:nvSpPr>
        <p:spPr>
          <a:xfrm>
            <a:off x="4092199" y="1866191"/>
            <a:ext cx="3442440" cy="742897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xmlns="" id="{88B05EC2-0DB6-C840-914C-1FBA5358C8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9268" y="1970993"/>
            <a:ext cx="2848091" cy="193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D0131D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B26B4FA4-1D19-4041-9CAC-B614443C08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46" y="996915"/>
            <a:ext cx="6019555" cy="7386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Description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BF2A059-BE7C-2846-8D18-71ACD759C9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97039" y="6291925"/>
            <a:ext cx="179435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SECTION TITLE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D82899-B975-914C-AECC-728B37D0F0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F07E0FC-B778-8444-A840-FB38D25B34B0}"/>
              </a:ext>
            </a:extLst>
          </p:cNvPr>
          <p:cNvCxnSpPr/>
          <p:nvPr userDrawn="1"/>
        </p:nvCxnSpPr>
        <p:spPr>
          <a:xfrm>
            <a:off x="441390" y="832262"/>
            <a:ext cx="2886075" cy="0"/>
          </a:xfrm>
          <a:prstGeom prst="line">
            <a:avLst/>
          </a:prstGeom>
          <a:ln w="19050">
            <a:solidFill>
              <a:srgbClr val="D01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33">
            <a:extLst>
              <a:ext uri="{FF2B5EF4-FFF2-40B4-BE49-F238E27FC236}">
                <a16:creationId xmlns:a16="http://schemas.microsoft.com/office/drawing/2014/main" xmlns="" id="{7C0FDB3D-5B45-D645-9991-FDC7F28549D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41325" y="352931"/>
            <a:ext cx="3033713" cy="4376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xmlns="" id="{5AED635F-9BFF-274D-93AB-F697F9C46E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268" y="2133037"/>
            <a:ext cx="2848091" cy="390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32" name="Round Diagonal Corner Rectangle 31">
            <a:extLst>
              <a:ext uri="{FF2B5EF4-FFF2-40B4-BE49-F238E27FC236}">
                <a16:creationId xmlns:a16="http://schemas.microsoft.com/office/drawing/2014/main" xmlns="" id="{E08C78DF-9305-394D-B2A1-6351CDB79386}"/>
              </a:ext>
            </a:extLst>
          </p:cNvPr>
          <p:cNvSpPr/>
          <p:nvPr userDrawn="1"/>
        </p:nvSpPr>
        <p:spPr>
          <a:xfrm>
            <a:off x="4092199" y="2717197"/>
            <a:ext cx="3442440" cy="742897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 Diagonal Corner Rectangle 32">
            <a:extLst>
              <a:ext uri="{FF2B5EF4-FFF2-40B4-BE49-F238E27FC236}">
                <a16:creationId xmlns:a16="http://schemas.microsoft.com/office/drawing/2014/main" xmlns="" id="{4FFD328C-7B9F-FE4C-A0C1-EF12C1B9D3ED}"/>
              </a:ext>
            </a:extLst>
          </p:cNvPr>
          <p:cNvSpPr/>
          <p:nvPr userDrawn="1"/>
        </p:nvSpPr>
        <p:spPr>
          <a:xfrm>
            <a:off x="4092199" y="3568203"/>
            <a:ext cx="3442440" cy="742897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 Diagonal Corner Rectangle 33">
            <a:extLst>
              <a:ext uri="{FF2B5EF4-FFF2-40B4-BE49-F238E27FC236}">
                <a16:creationId xmlns:a16="http://schemas.microsoft.com/office/drawing/2014/main" xmlns="" id="{4E4CA93B-24CF-5E4B-8C9F-887A78542023}"/>
              </a:ext>
            </a:extLst>
          </p:cNvPr>
          <p:cNvSpPr/>
          <p:nvPr userDrawn="1"/>
        </p:nvSpPr>
        <p:spPr>
          <a:xfrm>
            <a:off x="4092199" y="4419209"/>
            <a:ext cx="3442440" cy="742897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131D"/>
              </a:solidFill>
            </a:endParaRPr>
          </a:p>
        </p:txBody>
      </p:sp>
      <p:sp>
        <p:nvSpPr>
          <p:cNvPr id="35" name="Round Diagonal Corner Rectangle 34">
            <a:extLst>
              <a:ext uri="{FF2B5EF4-FFF2-40B4-BE49-F238E27FC236}">
                <a16:creationId xmlns:a16="http://schemas.microsoft.com/office/drawing/2014/main" xmlns="" id="{F85FB680-27E9-B14A-9074-2638EF2D2796}"/>
              </a:ext>
            </a:extLst>
          </p:cNvPr>
          <p:cNvSpPr/>
          <p:nvPr userDrawn="1"/>
        </p:nvSpPr>
        <p:spPr>
          <a:xfrm>
            <a:off x="4092199" y="5270216"/>
            <a:ext cx="3442440" cy="742897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xmlns="" id="{253461CE-B7D2-024B-9B7F-6BE276A799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9268" y="2804368"/>
            <a:ext cx="2848091" cy="193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D0131D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xmlns="" id="{A44D0B66-8ADC-F842-8F26-5202D74587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9268" y="2966412"/>
            <a:ext cx="2848091" cy="390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xmlns="" id="{BE5601EA-2104-2842-80AD-0734B3532A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9268" y="3660894"/>
            <a:ext cx="2848091" cy="193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D0131D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xmlns="" id="{DC234725-1B67-A641-9A8A-C48D63065F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49268" y="3822938"/>
            <a:ext cx="2848091" cy="390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xmlns="" id="{008EDA94-D86F-4144-80A8-664F6356FA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49268" y="4528995"/>
            <a:ext cx="2848091" cy="193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C03329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xmlns="" id="{A5817CC5-C261-2B45-B408-5E79551EB3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49268" y="4691039"/>
            <a:ext cx="2848091" cy="390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xmlns="" id="{A8744939-9D5E-4A49-B711-7DCD6CBD68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9268" y="5350796"/>
            <a:ext cx="2848091" cy="193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D0131D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xmlns="" id="{F68E9C20-C39E-A744-96E9-66F27FACAC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49268" y="5512840"/>
            <a:ext cx="2848091" cy="390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8220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B26B4FA4-1D19-4041-9CAC-B614443C08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46" y="996915"/>
            <a:ext cx="6019555" cy="7386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Description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BF2A059-BE7C-2846-8D18-71ACD759C9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97039" y="6291925"/>
            <a:ext cx="179435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SECTION TITLE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D82899-B975-914C-AECC-728B37D0F0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F07E0FC-B778-8444-A840-FB38D25B34B0}"/>
              </a:ext>
            </a:extLst>
          </p:cNvPr>
          <p:cNvCxnSpPr/>
          <p:nvPr userDrawn="1"/>
        </p:nvCxnSpPr>
        <p:spPr>
          <a:xfrm>
            <a:off x="441390" y="832262"/>
            <a:ext cx="2886075" cy="0"/>
          </a:xfrm>
          <a:prstGeom prst="line">
            <a:avLst/>
          </a:prstGeom>
          <a:ln w="19050">
            <a:solidFill>
              <a:srgbClr val="C033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33">
            <a:extLst>
              <a:ext uri="{FF2B5EF4-FFF2-40B4-BE49-F238E27FC236}">
                <a16:creationId xmlns:a16="http://schemas.microsoft.com/office/drawing/2014/main" xmlns="" id="{7C0FDB3D-5B45-D645-9991-FDC7F28549D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41325" y="352931"/>
            <a:ext cx="3033713" cy="4376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 i="0">
                <a:solidFill>
                  <a:srgbClr val="D0131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251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2923659"/>
            <a:ext cx="3435823" cy="383884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274" y="396946"/>
            <a:ext cx="7703542" cy="751544"/>
          </a:xfrm>
        </p:spPr>
        <p:txBody>
          <a:bodyPr>
            <a:normAutofit/>
          </a:bodyPr>
          <a:lstStyle>
            <a:lvl1pPr algn="l">
              <a:defRPr sz="2406" b="1">
                <a:latin typeface="Century Gothic" panose="020B0502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6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5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5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4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4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7629345" y="6457549"/>
            <a:ext cx="3860908" cy="364466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Strictly</a:t>
            </a:r>
            <a:r>
              <a:rPr lang="fr-FR" dirty="0"/>
              <a:t> </a:t>
            </a:r>
            <a:r>
              <a:rPr lang="fr-FR" dirty="0" err="1"/>
              <a:t>Confidential</a:t>
            </a:r>
            <a:r>
              <a:rPr lang="fr-FR" dirty="0"/>
              <a:t> – Copyright API 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701752" y="469136"/>
            <a:ext cx="1773452" cy="0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55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52F3EBA-2826-CD40-B74A-57576F412950}"/>
              </a:ext>
            </a:extLst>
          </p:cNvPr>
          <p:cNvSpPr/>
          <p:nvPr userDrawn="1"/>
        </p:nvSpPr>
        <p:spPr>
          <a:xfrm>
            <a:off x="2695552" y="0"/>
            <a:ext cx="2350990" cy="2505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4BB2101-CF39-444C-938C-328CA68282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386" y="571501"/>
            <a:ext cx="2007322" cy="13858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BFC3A67-3863-9149-B9AC-273A99121F9F}"/>
              </a:ext>
            </a:extLst>
          </p:cNvPr>
          <p:cNvSpPr/>
          <p:nvPr userDrawn="1"/>
        </p:nvSpPr>
        <p:spPr>
          <a:xfrm rot="16200000" flipH="1">
            <a:off x="3821040" y="1379866"/>
            <a:ext cx="100014" cy="2350990"/>
          </a:xfrm>
          <a:prstGeom prst="rect">
            <a:avLst/>
          </a:prstGeom>
          <a:solidFill>
            <a:srgbClr val="D11D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4">
              <a:solidFill>
                <a:srgbClr val="C03329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7309E78-EF25-0945-8836-1946598D934B}"/>
              </a:ext>
            </a:extLst>
          </p:cNvPr>
          <p:cNvSpPr/>
          <p:nvPr userDrawn="1"/>
        </p:nvSpPr>
        <p:spPr>
          <a:xfrm rot="16200000">
            <a:off x="7393533" y="1744569"/>
            <a:ext cx="128383" cy="94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4">
              <a:solidFill>
                <a:srgbClr val="C033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42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B63E32-2CC3-474E-BC87-C2A9C8F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7095" y="6291925"/>
            <a:ext cx="5312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40D410-9CB0-034B-82A8-886AE5287414}" type="slidenum">
              <a:rPr lang="en-US" smtClean="0"/>
              <a:pPr/>
              <a:t>‹N°›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CCC149E-AD6E-8641-ACAB-06770EACD3F8}"/>
              </a:ext>
            </a:extLst>
          </p:cNvPr>
          <p:cNvSpPr/>
          <p:nvPr userDrawn="1"/>
        </p:nvSpPr>
        <p:spPr>
          <a:xfrm rot="16200000">
            <a:off x="7712756" y="2057799"/>
            <a:ext cx="114807" cy="8843682"/>
          </a:xfrm>
          <a:prstGeom prst="rect">
            <a:avLst/>
          </a:prstGeom>
          <a:solidFill>
            <a:srgbClr val="D013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4">
              <a:solidFill>
                <a:srgbClr val="C03329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5DAA2874-5DD7-9942-9B82-439338EED8E8}"/>
              </a:ext>
            </a:extLst>
          </p:cNvPr>
          <p:cNvSpPr txBox="1">
            <a:spLocks/>
          </p:cNvSpPr>
          <p:nvPr userDrawn="1"/>
        </p:nvSpPr>
        <p:spPr>
          <a:xfrm>
            <a:off x="10210409" y="6579308"/>
            <a:ext cx="1794356" cy="1925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</a:rPr>
              <a:t>Strictly Confidential ©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09" y="6152612"/>
            <a:ext cx="1961584" cy="53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4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slideLayout" Target="../slideLayouts/slideLayout7.xml"/><Relationship Id="rId1" Type="http://schemas.openxmlformats.org/officeDocument/2006/relationships/customXml" Target="../../customXml/item3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094"/>
            <a:ext cx="12192000" cy="68701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07096" y="3070620"/>
            <a:ext cx="6142382" cy="3111519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C425EEA-32CF-CF47-B252-E8E91D1F0D2A}"/>
              </a:ext>
            </a:extLst>
          </p:cNvPr>
          <p:cNvSpPr/>
          <p:nvPr/>
        </p:nvSpPr>
        <p:spPr>
          <a:xfrm>
            <a:off x="2695552" y="0"/>
            <a:ext cx="2350990" cy="2505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9F008F9-3444-CD47-9F7B-064216379C92}"/>
              </a:ext>
            </a:extLst>
          </p:cNvPr>
          <p:cNvSpPr/>
          <p:nvPr/>
        </p:nvSpPr>
        <p:spPr>
          <a:xfrm rot="16200000" flipH="1">
            <a:off x="3821040" y="1379867"/>
            <a:ext cx="100014" cy="2350990"/>
          </a:xfrm>
          <a:prstGeom prst="rect">
            <a:avLst/>
          </a:prstGeom>
          <a:solidFill>
            <a:srgbClr val="D11D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sz="1700">
              <a:solidFill>
                <a:srgbClr val="C0332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FB40E1D-239B-0A40-8F36-921C7014D315}"/>
              </a:ext>
            </a:extLst>
          </p:cNvPr>
          <p:cNvSpPr/>
          <p:nvPr/>
        </p:nvSpPr>
        <p:spPr>
          <a:xfrm rot="16200000">
            <a:off x="7393534" y="1744570"/>
            <a:ext cx="128383" cy="94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sz="1700">
              <a:solidFill>
                <a:srgbClr val="C03329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115140">
            <a:off x="5622721" y="2901048"/>
            <a:ext cx="2640072" cy="264007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290" y="565268"/>
            <a:ext cx="2154906" cy="13193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153" y="6452594"/>
            <a:ext cx="2232394" cy="541553"/>
          </a:xfrm>
          <a:prstGeom prst="rect">
            <a:avLst/>
          </a:prstGeom>
        </p:spPr>
      </p:pic>
      <p:sp>
        <p:nvSpPr>
          <p:cNvPr id="16" name="Content Placeholder 1">
            <a:extLst>
              <a:ext uri="{FF2B5EF4-FFF2-40B4-BE49-F238E27FC236}">
                <a16:creationId xmlns:a16="http://schemas.microsoft.com/office/drawing/2014/main" xmlns="" id="{81C127E2-57AF-B94A-AA64-31743281F02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95552" y="4221084"/>
            <a:ext cx="6646920" cy="299267"/>
          </a:xfrm>
          <a:effectLst/>
        </p:spPr>
        <p:txBody>
          <a:bodyPr lIns="93040" tIns="46520" rIns="93040" bIns="46520">
            <a:noAutofit/>
          </a:bodyPr>
          <a:lstStyle/>
          <a:p>
            <a:r>
              <a:rPr lang="en-US" sz="4100" dirty="0">
                <a:solidFill>
                  <a:schemeClr val="tx1"/>
                </a:solidFill>
              </a:rPr>
              <a:t>[CN]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2986" y="4297340"/>
            <a:ext cx="3011384" cy="1092597"/>
          </a:xfrm>
          <a:prstGeom prst="rect">
            <a:avLst/>
          </a:prstGeom>
          <a:effectLst/>
        </p:spPr>
        <p:txBody>
          <a:bodyPr wrap="none" lIns="91431" tIns="45715" rIns="91431" bIns="45715">
            <a:spAutoFit/>
          </a:bodyPr>
          <a:lstStyle/>
          <a:p>
            <a:pPr>
              <a:lnSpc>
                <a:spcPts val="7815"/>
              </a:lnSpc>
              <a:spcBef>
                <a:spcPts val="587"/>
              </a:spcBef>
            </a:pPr>
            <a:r>
              <a:rPr lang="en-US" sz="2400" b="1" dirty="0">
                <a:solidFill>
                  <a:srgbClr val="C00000"/>
                </a:solidFill>
              </a:rPr>
              <a:t>Cooperation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2985" y="4665146"/>
            <a:ext cx="3010871" cy="1092597"/>
          </a:xfrm>
          <a:prstGeom prst="rect">
            <a:avLst/>
          </a:prstGeom>
          <a:effectLst/>
        </p:spPr>
        <p:txBody>
          <a:bodyPr wrap="none" lIns="91431" tIns="45715" rIns="91431" bIns="45715" anchor="ctr">
            <a:spAutoFit/>
          </a:bodyPr>
          <a:lstStyle/>
          <a:p>
            <a:pPr>
              <a:lnSpc>
                <a:spcPts val="7815"/>
              </a:lnSpc>
              <a:spcBef>
                <a:spcPts val="587"/>
              </a:spcBef>
            </a:pPr>
            <a:r>
              <a:rPr lang="en-US" sz="2000" dirty="0"/>
              <a:t>Period covered: [BD] – [ED]</a:t>
            </a:r>
          </a:p>
        </p:txBody>
      </p:sp>
    </p:spTree>
    <p:extLst>
      <p:ext uri="{BB962C8B-B14F-4D97-AF65-F5344CB8AC3E}">
        <p14:creationId xmlns:p14="http://schemas.microsoft.com/office/powerpoint/2010/main" val="326076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2</a:t>
            </a:fld>
            <a:r>
              <a:rPr lang="fr-FR"/>
              <a:t> -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24589" y="352931"/>
            <a:ext cx="3033713" cy="437644"/>
          </a:xfrm>
        </p:spPr>
        <p:txBody>
          <a:bodyPr/>
          <a:lstStyle/>
          <a:p>
            <a:r>
              <a:rPr lang="en-US" dirty="0"/>
              <a:t>Cooperation Start</a:t>
            </a:r>
            <a:endParaRPr lang="en-HK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0807348E-CE4D-464C-8540-D9887C055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9438"/>
              </p:ext>
            </p:extLst>
          </p:nvPr>
        </p:nvGraphicFramePr>
        <p:xfrm>
          <a:off x="1042572" y="1263245"/>
          <a:ext cx="3248632" cy="3246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50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67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[LIST:CS][CTR] </a:t>
                      </a:r>
                    </a:p>
                  </a:txBody>
                  <a:tcPr marL="91673" marR="91673" marT="45816" marB="4581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[MY]</a:t>
                      </a:r>
                    </a:p>
                  </a:txBody>
                  <a:tcPr marL="91673" marR="91673" marT="45816" marB="458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83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53773" y="352931"/>
            <a:ext cx="5055014" cy="437644"/>
          </a:xfrm>
        </p:spPr>
        <p:txBody>
          <a:bodyPr/>
          <a:lstStyle/>
          <a:p>
            <a:r>
              <a:rPr lang="en-US" dirty="0"/>
              <a:t>Activities Overview</a:t>
            </a:r>
            <a:endParaRPr lang="en-HK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9573"/>
              </p:ext>
            </p:extLst>
          </p:nvPr>
        </p:nvGraphicFramePr>
        <p:xfrm>
          <a:off x="926408" y="1089025"/>
          <a:ext cx="9233440" cy="517727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378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562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19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132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4927">
                  <a:extLst>
                    <a:ext uri="{9D8B030D-6E8A-4147-A177-3AD203B41FA5}">
                      <a16:colId xmlns:a16="http://schemas.microsoft.com/office/drawing/2014/main" xmlns="" val="233719835"/>
                    </a:ext>
                  </a:extLst>
                </a:gridCol>
                <a:gridCol w="11992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43442"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[LYFY]</a:t>
                      </a: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[LYYTD]</a:t>
                      </a: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i="0" u="none" strike="noStrike" baseline="0" dirty="0">
                          <a:solidFill>
                            <a:schemeClr val="bg1"/>
                          </a:solidFill>
                          <a:latin typeface="+mn-lt"/>
                        </a:rPr>
                        <a:t>[CY]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Variance</a:t>
                      </a: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chemeClr val="bg1"/>
                          </a:solidFill>
                          <a:latin typeface="+mn-lt"/>
                        </a:rPr>
                        <a:t>Variance %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65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b="1" u="none" strike="noStrike" dirty="0">
                          <a:latin typeface="+mn-lt"/>
                        </a:rPr>
                        <a:t>Inspection fees USD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[IFLY]</a:t>
                      </a:r>
                      <a:endParaRPr lang="en-US" sz="1600" b="1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[IFLY2]</a:t>
                      </a:r>
                      <a:endParaRPr lang="en-US" sz="1600" b="1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HK" sz="1600" b="1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[IFCY]</a:t>
                      </a:r>
                      <a:endParaRPr lang="en-HK" sz="1600" b="1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HK" sz="1600" b="1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[VARI]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HK" sz="1600" b="1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[VARIP]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# of Inspections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[NILY]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[NILY2]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[NICY]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[VARNI]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[VARNIP]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68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u="none" strike="noStrike" dirty="0">
                          <a:latin typeface="+mn-lt"/>
                        </a:rPr>
                        <a:t># of </a:t>
                      </a:r>
                      <a:r>
                        <a:rPr lang="en-US" sz="1200" b="0" u="none" strike="noStrike" dirty="0" err="1">
                          <a:latin typeface="+mn-lt"/>
                        </a:rPr>
                        <a:t>Mandays</a:t>
                      </a:r>
                      <a:r>
                        <a:rPr lang="en-US" sz="1200" b="0" u="none" strike="noStrike" dirty="0">
                          <a:latin typeface="+mn-lt"/>
                        </a:rPr>
                        <a:t> 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[MDLY]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[MDLY2]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[MDCY]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[VARM]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[VARMP]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685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+mn-lt"/>
                        </a:rPr>
                        <a:t># of Reports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[NBRYLY]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[NBRYLY2]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[NBRYCY]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[VARNOR]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[VARNORP]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153886"/>
                  </a:ext>
                </a:extLst>
              </a:tr>
              <a:tr h="278685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+mn-lt"/>
                        </a:rPr>
                        <a:t># of Items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[NBITLY]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[NBITLY2]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[NBITCY]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[VARNOIT]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[VARNOITP]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61851472"/>
                  </a:ext>
                </a:extLst>
              </a:tr>
              <a:tr h="278685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of Inspected pieces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[IQTLY]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[IQTLY2]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[IQTCY]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[VARIIQ]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[VARIIQP]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68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of Ordered </a:t>
                      </a:r>
                      <a:r>
                        <a:rPr lang="en-US" sz="1200" b="0" u="none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qty</a:t>
                      </a:r>
                      <a:endParaRPr lang="en-US" sz="1200" b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[OQTLY]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[OQTLY2]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[OQTCY]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[VARIOQ]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[VARIOQP]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75495200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u="none" strike="noStrike" dirty="0">
                          <a:latin typeface="+mn-lt"/>
                        </a:rPr>
                        <a:t># of Suppliers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[NBSULY]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[NBSULY2]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[NBSUCY]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[VARSU]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[VARSUP]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58802215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u="none" strike="noStrike" dirty="0">
                          <a:latin typeface="+mn-lt"/>
                        </a:rPr>
                        <a:t># of Factories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[NBFALY]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[NBFALY2]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[NBFACY]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[VARFA]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[VARFAP]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5839001"/>
                  </a:ext>
                </a:extLst>
              </a:tr>
              <a:tr h="31065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Audit</a:t>
                      </a:r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fees USD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[AFLY]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[AFLY2]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[AFCY]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[VARA]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[VARAP] %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0531046"/>
                  </a:ext>
                </a:extLst>
              </a:tr>
              <a:tr h="21791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# 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Technical audits</a:t>
                      </a: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[TALY]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[TALY2]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[TACY]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[VARTA]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[VARTAP] %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568648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Social audits</a:t>
                      </a: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[SALY]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[SALY2]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[SACY]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[VARSA]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[VARSAP] %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28349846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Environmental audits</a:t>
                      </a:r>
                    </a:p>
                  </a:txBody>
                  <a:tcPr marL="6768" marR="6768" marT="67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[EALY]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[EALY2]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[EACY]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[VAREA]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[VAREAP] %</a:t>
                      </a:r>
                    </a:p>
                  </a:txBody>
                  <a:tcPr marL="7639" marR="7639" marT="76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65396461"/>
                  </a:ext>
                </a:extLst>
              </a:tr>
              <a:tr h="30957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TCF </a:t>
                      </a:r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fees USD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8424261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# 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TCFs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22893135"/>
                  </a:ext>
                </a:extLst>
              </a:tr>
              <a:tr h="30957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Lab testing </a:t>
                      </a:r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fees USD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600" b="1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62163361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# 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Tests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67183395"/>
                  </a:ext>
                </a:extLst>
              </a:tr>
              <a:tr h="34830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 USD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u="none" strike="noStrike" kern="1200" dirty="0">
                          <a:solidFill>
                            <a:schemeClr val="bg1"/>
                          </a:solidFill>
                          <a:latin typeface="+mn-lt"/>
                        </a:rPr>
                        <a:t> [TOTLY]</a:t>
                      </a:r>
                      <a:endParaRPr lang="en-US" sz="18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i="0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[TOTLY2]</a:t>
                      </a:r>
                    </a:p>
                  </a:txBody>
                  <a:tcPr marL="6768" marR="6768" marT="676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HK" sz="1800" b="1" i="0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[TOTCY]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HK" sz="1800" b="1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[TOTVA]</a:t>
                      </a: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9" marR="7639" marT="76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296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392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4</a:t>
            </a:fld>
            <a:r>
              <a:rPr lang="fr-FR" dirty="0"/>
              <a:t> -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324589" y="352931"/>
            <a:ext cx="5442640" cy="437644"/>
          </a:xfrm>
        </p:spPr>
        <p:txBody>
          <a:bodyPr/>
          <a:lstStyle/>
          <a:p>
            <a:r>
              <a:rPr lang="en-US" dirty="0"/>
              <a:t>Inspection Volumes</a:t>
            </a:r>
            <a:endParaRPr lang="en-HK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7790"/>
              </p:ext>
            </p:extLst>
          </p:nvPr>
        </p:nvGraphicFramePr>
        <p:xfrm>
          <a:off x="432295" y="1512941"/>
          <a:ext cx="7051870" cy="176848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229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04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397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704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3346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74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7412">
                  <a:extLst>
                    <a:ext uri="{9D8B030D-6E8A-4147-A177-3AD203B41FA5}">
                      <a16:colId xmlns:a16="http://schemas.microsoft.com/office/drawing/2014/main" xmlns="" val="2731749213"/>
                    </a:ext>
                  </a:extLst>
                </a:gridCol>
              </a:tblGrid>
              <a:tr h="3592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 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of factories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 of inspections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of Reports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Items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Man days 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Mandays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71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[LIST:IBCCY][IBCCYCN]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/>
                        <a:t>[IBCCYNF]</a:t>
                      </a:r>
                      <a:endParaRPr sz="1400" dirty="0"/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/>
                        <a:t>[IBCCYNIN]</a:t>
                      </a:r>
                      <a:endParaRPr sz="1400" dirty="0"/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/>
                        <a:t>[IBCCYNR]</a:t>
                      </a:r>
                      <a:endParaRPr sz="1400" dirty="0"/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/>
                        <a:t>[IBCCYNIT]</a:t>
                      </a:r>
                      <a:endParaRPr sz="1400" dirty="0"/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[IBCCYMD]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[IBCCYPMD] 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71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400" b="1" dirty="0">
                          <a:solidFill>
                            <a:schemeClr val="bg1"/>
                          </a:solidFill>
                        </a:rPr>
                        <a:t>[SUM:IBCCYNF]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400" b="1" dirty="0">
                          <a:solidFill>
                            <a:schemeClr val="bg1"/>
                          </a:solidFill>
                        </a:rPr>
                        <a:t>[SUM:IBCCYNIN]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[SUM:IBCCYNR]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[SUM:IBCCYNIT]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[SUM:IBCCYMD]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544183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99292"/>
              </p:ext>
            </p:extLst>
          </p:nvPr>
        </p:nvGraphicFramePr>
        <p:xfrm>
          <a:off x="439571" y="4488984"/>
          <a:ext cx="6933785" cy="155512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041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1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2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41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1783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905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90542">
                  <a:extLst>
                    <a:ext uri="{9D8B030D-6E8A-4147-A177-3AD203B41FA5}">
                      <a16:colId xmlns:a16="http://schemas.microsoft.com/office/drawing/2014/main" xmlns="" val="2731749213"/>
                    </a:ext>
                  </a:extLst>
                </a:gridCol>
              </a:tblGrid>
              <a:tr h="4583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 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of factories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 inspections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of Reports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Items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Man days 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Mandays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[LIST:IBCLY][IBCLYCN]</a:t>
                      </a:r>
                    </a:p>
                  </a:txBody>
                  <a:tcPr marL="91686" marR="91686" marT="45820" marB="458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[IBCLYNF]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[IBCLYNIN]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[IBCLYNR]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[IBCLYNIT]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[IBCLYMD]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[IBCLYPMD] %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20642024"/>
                  </a:ext>
                </a:extLst>
              </a:tr>
              <a:tr h="25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[SUM:IBCLYNF]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[SUM:IBCLYNIN]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[SUM:IBCLYNR]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[SUM:IBCLYNIT]</a:t>
                      </a: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[SUM:IBCLYMD]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3" marR="91673" marT="45828" marB="458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xmlns="" id="{4EBA3C58-5EE0-468B-8805-5D623DD589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829814"/>
              </p:ext>
            </p:extLst>
          </p:nvPr>
        </p:nvGraphicFramePr>
        <p:xfrm>
          <a:off x="7620922" y="2301392"/>
          <a:ext cx="4222986" cy="2382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A8118BC-CE89-422C-B0E3-242E3AC3D005}"/>
              </a:ext>
            </a:extLst>
          </p:cNvPr>
          <p:cNvSpPr/>
          <p:nvPr/>
        </p:nvSpPr>
        <p:spPr>
          <a:xfrm>
            <a:off x="354471" y="995730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726327F-8E3C-49BD-8E4A-6AEADE4682B3}"/>
              </a:ext>
            </a:extLst>
          </p:cNvPr>
          <p:cNvSpPr/>
          <p:nvPr/>
        </p:nvSpPr>
        <p:spPr>
          <a:xfrm>
            <a:off x="354471" y="4071894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[LYBD] – [LYED]</a:t>
            </a:r>
          </a:p>
        </p:txBody>
      </p:sp>
    </p:spTree>
    <p:extLst>
      <p:ext uri="{BB962C8B-B14F-4D97-AF65-F5344CB8AC3E}">
        <p14:creationId xmlns:p14="http://schemas.microsoft.com/office/powerpoint/2010/main" val="186583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5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34317" y="352931"/>
            <a:ext cx="4160492" cy="437644"/>
          </a:xfrm>
        </p:spPr>
        <p:txBody>
          <a:bodyPr/>
          <a:lstStyle/>
          <a:p>
            <a:r>
              <a:rPr lang="en-HK" dirty="0"/>
              <a:t>Inspection by month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8454194"/>
              </p:ext>
            </p:extLst>
          </p:nvPr>
        </p:nvGraphicFramePr>
        <p:xfrm>
          <a:off x="1114764" y="1358570"/>
          <a:ext cx="9312745" cy="1209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4810473"/>
              </p:ext>
            </p:extLst>
          </p:nvPr>
        </p:nvGraphicFramePr>
        <p:xfrm>
          <a:off x="140411" y="3250236"/>
          <a:ext cx="11514360" cy="111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394083"/>
              </p:ext>
            </p:extLst>
          </p:nvPr>
        </p:nvGraphicFramePr>
        <p:xfrm>
          <a:off x="-66553" y="4268466"/>
          <a:ext cx="11442168" cy="998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7834791"/>
              </p:ext>
            </p:extLst>
          </p:nvPr>
        </p:nvGraphicFramePr>
        <p:xfrm>
          <a:off x="140410" y="5253837"/>
          <a:ext cx="11514360" cy="1191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Rectangle 11"/>
          <p:cNvSpPr/>
          <p:nvPr/>
        </p:nvSpPr>
        <p:spPr>
          <a:xfrm>
            <a:off x="139109" y="3453237"/>
            <a:ext cx="8820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US" sz="1200" dirty="0"/>
              <a:t>[CAT1]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97" y="5484570"/>
            <a:ext cx="96079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"/>
            <a:r>
              <a:rPr lang="en-US" sz="1200" dirty="0"/>
              <a:t>[CAT3]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6474" y="4546240"/>
            <a:ext cx="590996" cy="27699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"/>
            <a:r>
              <a:rPr lang="en-US" sz="1200" dirty="0"/>
              <a:t>[CAT2]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" y="984000"/>
            <a:ext cx="1221345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" name="Rectangle 15"/>
          <p:cNvSpPr/>
          <p:nvPr/>
        </p:nvSpPr>
        <p:spPr>
          <a:xfrm>
            <a:off x="221041" y="984000"/>
            <a:ext cx="14037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400" b="1" cap="all" dirty="0"/>
              <a:t>All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-3" y="2716676"/>
            <a:ext cx="1221345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8" name="Rectangle 17"/>
          <p:cNvSpPr/>
          <p:nvPr/>
        </p:nvSpPr>
        <p:spPr>
          <a:xfrm>
            <a:off x="232710" y="2752692"/>
            <a:ext cx="1576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400" b="1" cap="all" dirty="0"/>
              <a:t>Top 3 categories</a:t>
            </a:r>
          </a:p>
        </p:txBody>
      </p:sp>
    </p:spTree>
    <p:extLst>
      <p:ext uri="{BB962C8B-B14F-4D97-AF65-F5344CB8AC3E}">
        <p14:creationId xmlns:p14="http://schemas.microsoft.com/office/powerpoint/2010/main" val="136952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6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34317" y="352931"/>
            <a:ext cx="4160492" cy="437644"/>
          </a:xfrm>
        </p:spPr>
        <p:txBody>
          <a:bodyPr/>
          <a:lstStyle/>
          <a:p>
            <a:r>
              <a:rPr lang="en-HK" dirty="0"/>
              <a:t>Inspection by month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727033"/>
              </p:ext>
            </p:extLst>
          </p:nvPr>
        </p:nvGraphicFramePr>
        <p:xfrm>
          <a:off x="1114764" y="1358570"/>
          <a:ext cx="9312745" cy="1209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619135"/>
              </p:ext>
            </p:extLst>
          </p:nvPr>
        </p:nvGraphicFramePr>
        <p:xfrm>
          <a:off x="140411" y="3250236"/>
          <a:ext cx="11514360" cy="111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436169"/>
              </p:ext>
            </p:extLst>
          </p:nvPr>
        </p:nvGraphicFramePr>
        <p:xfrm>
          <a:off x="-66553" y="4268466"/>
          <a:ext cx="11442168" cy="998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1622404"/>
              </p:ext>
            </p:extLst>
          </p:nvPr>
        </p:nvGraphicFramePr>
        <p:xfrm>
          <a:off x="140410" y="5253837"/>
          <a:ext cx="11514360" cy="1191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Rectangle 11"/>
          <p:cNvSpPr/>
          <p:nvPr/>
        </p:nvSpPr>
        <p:spPr>
          <a:xfrm>
            <a:off x="139109" y="3453237"/>
            <a:ext cx="8820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US" sz="1200" dirty="0"/>
              <a:t>[DEP1]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97" y="5484570"/>
            <a:ext cx="96079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"/>
            <a:r>
              <a:rPr lang="en-US" sz="1200" dirty="0"/>
              <a:t>[DEP3]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45" y="4546240"/>
            <a:ext cx="606256" cy="27699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"/>
            <a:r>
              <a:rPr lang="en-US" sz="1200" dirty="0"/>
              <a:t>[DEP2]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" y="984000"/>
            <a:ext cx="1221345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" name="Rectangle 15"/>
          <p:cNvSpPr/>
          <p:nvPr/>
        </p:nvSpPr>
        <p:spPr>
          <a:xfrm>
            <a:off x="121466" y="984000"/>
            <a:ext cx="16029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400" b="1" cap="all" dirty="0"/>
              <a:t>All DEPARTMENTS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-3" y="2716676"/>
            <a:ext cx="1221345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8" name="Rectangle 17"/>
          <p:cNvSpPr/>
          <p:nvPr/>
        </p:nvSpPr>
        <p:spPr>
          <a:xfrm>
            <a:off x="133134" y="2752692"/>
            <a:ext cx="17760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400" b="1" cap="all" dirty="0"/>
              <a:t>Top 3 DEPARTMENTS</a:t>
            </a:r>
          </a:p>
        </p:txBody>
      </p:sp>
      <p:sp>
        <p:nvSpPr>
          <p:cNvPr id="19" name="TextBox 2"/>
          <p:cNvSpPr txBox="1"/>
          <p:nvPr/>
        </p:nvSpPr>
        <p:spPr>
          <a:xfrm>
            <a:off x="-1" y="-14962"/>
            <a:ext cx="18449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[OPTION:BYDEPT]</a:t>
            </a:r>
          </a:p>
        </p:txBody>
      </p:sp>
    </p:spTree>
    <p:extLst>
      <p:ext uri="{BB962C8B-B14F-4D97-AF65-F5344CB8AC3E}">
        <p14:creationId xmlns:p14="http://schemas.microsoft.com/office/powerpoint/2010/main" val="262683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09" y="0"/>
            <a:ext cx="7703542" cy="7070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Inspection Type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7</a:t>
            </a:fld>
            <a:endParaRPr lang="fr-FR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0AE92224-A8EA-44AA-853D-8D56DE56D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638549"/>
              </p:ext>
            </p:extLst>
          </p:nvPr>
        </p:nvGraphicFramePr>
        <p:xfrm>
          <a:off x="898190" y="3917314"/>
          <a:ext cx="8807402" cy="132843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10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70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4013">
                  <a:extLst>
                    <a:ext uri="{9D8B030D-6E8A-4147-A177-3AD203B41FA5}">
                      <a16:colId xmlns:a16="http://schemas.microsoft.com/office/drawing/2014/main" xmlns="" val="3141549987"/>
                    </a:ext>
                  </a:extLst>
                </a:gridCol>
                <a:gridCol w="858088">
                  <a:extLst>
                    <a:ext uri="{9D8B030D-6E8A-4147-A177-3AD203B41FA5}">
                      <a16:colId xmlns:a16="http://schemas.microsoft.com/office/drawing/2014/main" xmlns="" val="3119367882"/>
                    </a:ext>
                  </a:extLst>
                </a:gridCol>
                <a:gridCol w="8371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29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42141">
                  <a:extLst>
                    <a:ext uri="{9D8B030D-6E8A-4147-A177-3AD203B41FA5}">
                      <a16:colId xmlns:a16="http://schemas.microsoft.com/office/drawing/2014/main" xmlns="" val="1638491882"/>
                    </a:ext>
                  </a:extLst>
                </a:gridCol>
                <a:gridCol w="94214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36559">
                  <a:extLst>
                    <a:ext uri="{9D8B030D-6E8A-4147-A177-3AD203B41FA5}">
                      <a16:colId xmlns:a16="http://schemas.microsoft.com/office/drawing/2014/main" xmlns="" val="2799321491"/>
                    </a:ext>
                  </a:extLst>
                </a:gridCol>
              </a:tblGrid>
              <a:tr h="6417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# Inspections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by Country 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# Inspections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Sample picking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DUPRO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Final Random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 Inspection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Container Loading Supervision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Inspection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Others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97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[LIST:ITLY][ITCNLY]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[ITILY]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[ITSPLY]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[ITDPLY]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[ITFRLY]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[ITRELY]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[ITCLLY]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[IT100LY]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[ITOTLY]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97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[SUM:ITILY]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[SUM:ITSPLY]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[SUM:ITDPLY]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[SUM:ITFRLY]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[SUM:ITRELY]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[SUM:ITCLLY]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[SUM:IT100LY]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[SUM:ITOTLY]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9" name="Table 7">
            <a:extLst>
              <a:ext uri="{FF2B5EF4-FFF2-40B4-BE49-F238E27FC236}">
                <a16:creationId xmlns:a16="http://schemas.microsoft.com/office/drawing/2014/main" xmlns="" id="{0AE92224-A8EA-44AA-853D-8D56DE56D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618846"/>
              </p:ext>
            </p:extLst>
          </p:nvPr>
        </p:nvGraphicFramePr>
        <p:xfrm>
          <a:off x="911333" y="1564380"/>
          <a:ext cx="8807402" cy="149565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10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70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4013">
                  <a:extLst>
                    <a:ext uri="{9D8B030D-6E8A-4147-A177-3AD203B41FA5}">
                      <a16:colId xmlns:a16="http://schemas.microsoft.com/office/drawing/2014/main" xmlns="" val="3141549987"/>
                    </a:ext>
                  </a:extLst>
                </a:gridCol>
                <a:gridCol w="858088">
                  <a:extLst>
                    <a:ext uri="{9D8B030D-6E8A-4147-A177-3AD203B41FA5}">
                      <a16:colId xmlns:a16="http://schemas.microsoft.com/office/drawing/2014/main" xmlns="" val="3119367882"/>
                    </a:ext>
                  </a:extLst>
                </a:gridCol>
                <a:gridCol w="8371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29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42141">
                  <a:extLst>
                    <a:ext uri="{9D8B030D-6E8A-4147-A177-3AD203B41FA5}">
                      <a16:colId xmlns:a16="http://schemas.microsoft.com/office/drawing/2014/main" xmlns="" val="1638491882"/>
                    </a:ext>
                  </a:extLst>
                </a:gridCol>
                <a:gridCol w="94214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36559">
                  <a:extLst>
                    <a:ext uri="{9D8B030D-6E8A-4147-A177-3AD203B41FA5}">
                      <a16:colId xmlns:a16="http://schemas.microsoft.com/office/drawing/2014/main" xmlns="" val="2799321491"/>
                    </a:ext>
                  </a:extLst>
                </a:gridCol>
              </a:tblGrid>
              <a:tr h="6417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# Inspections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by Country 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# Inspections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Sample picking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DUPRO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Final Random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 Inspection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Container Loading Supervision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Inspection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Others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97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[LIST:ITCY][ITCNCY] 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[ITICY]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[ITSPCY]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[ITDPCY]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[ITFRCY]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[ITRECY]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[ITCLCY]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[IT100CY]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[ITOTCY]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97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[SUM:ITICY]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[SUM:ITSPCY]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[SUM:ITDPCY]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[SUM:ITFRCY]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[SUM:ITRECY]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[SUM:ITCLCY]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+mn-cs"/>
                        </a:rPr>
                        <a:t>[SUM:IT100CY]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[SUM:ITOTCY]</a:t>
                      </a:r>
                    </a:p>
                  </a:txBody>
                  <a:tcPr marL="91674" marR="91674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6DB58EC-C7D3-4E0B-BA33-54F4387BA526}"/>
              </a:ext>
            </a:extLst>
          </p:cNvPr>
          <p:cNvSpPr/>
          <p:nvPr/>
        </p:nvSpPr>
        <p:spPr>
          <a:xfrm>
            <a:off x="823781" y="976287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B59F9B3-BF35-42EF-9173-D206A230B083}"/>
              </a:ext>
            </a:extLst>
          </p:cNvPr>
          <p:cNvSpPr/>
          <p:nvPr/>
        </p:nvSpPr>
        <p:spPr>
          <a:xfrm>
            <a:off x="823781" y="3459415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[LYBD] – [LYED]</a:t>
            </a:r>
          </a:p>
        </p:txBody>
      </p:sp>
    </p:spTree>
    <p:extLst>
      <p:ext uri="{BB962C8B-B14F-4D97-AF65-F5344CB8AC3E}">
        <p14:creationId xmlns:p14="http://schemas.microsoft.com/office/powerpoint/2010/main" val="343008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8</a:t>
            </a:fld>
            <a:endParaRPr lang="fr-FR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871905"/>
              </p:ext>
            </p:extLst>
          </p:nvPr>
        </p:nvGraphicFramePr>
        <p:xfrm>
          <a:off x="923196" y="4223110"/>
          <a:ext cx="3283175" cy="99935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56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3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1191">
                  <a:extLst>
                    <a:ext uri="{9D8B030D-6E8A-4147-A177-3AD203B41FA5}">
                      <a16:colId xmlns:a16="http://schemas.microsoft.com/office/drawing/2014/main" xmlns="" val="512400431"/>
                    </a:ext>
                  </a:extLst>
                </a:gridCol>
              </a:tblGrid>
              <a:tr h="5226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# 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</a:rPr>
                        <a:t>Mandays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</a:rPr>
                        <a:t> by category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[MATRIX:IBCCLY]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[ICCLYMD]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[SUM:X]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[SUM:Y]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606237" y="-114227"/>
            <a:ext cx="8889343" cy="751543"/>
          </a:xfrm>
          <a:prstGeom prst="rect">
            <a:avLst/>
          </a:prstGeom>
        </p:spPr>
        <p:txBody>
          <a:bodyPr vert="horz" lIns="91673" tIns="45837" rIns="91673" bIns="45837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eaLnBrk="0" hangingPunct="0">
              <a:lnSpc>
                <a:spcPct val="80000"/>
              </a:lnSpc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Inspection by category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766431"/>
              </p:ext>
            </p:extLst>
          </p:nvPr>
        </p:nvGraphicFramePr>
        <p:xfrm>
          <a:off x="941025" y="1530710"/>
          <a:ext cx="3283175" cy="99935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56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3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1191">
                  <a:extLst>
                    <a:ext uri="{9D8B030D-6E8A-4147-A177-3AD203B41FA5}">
                      <a16:colId xmlns:a16="http://schemas.microsoft.com/office/drawing/2014/main" xmlns="" val="512400431"/>
                    </a:ext>
                  </a:extLst>
                </a:gridCol>
              </a:tblGrid>
              <a:tr h="5226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# 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</a:rPr>
                        <a:t>Mandays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</a:rPr>
                        <a:t> by category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[MATRIX:IBCCCY]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[ICCCYCMD]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[SUM:X]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[SUM:Y]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1E87E73-09C2-4007-AA16-DD6F2293F4E9}"/>
              </a:ext>
            </a:extLst>
          </p:cNvPr>
          <p:cNvSpPr/>
          <p:nvPr/>
        </p:nvSpPr>
        <p:spPr>
          <a:xfrm>
            <a:off x="834020" y="990931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19E9F2E-A583-46F2-9AAA-F8679E5810FC}"/>
              </a:ext>
            </a:extLst>
          </p:cNvPr>
          <p:cNvSpPr/>
          <p:nvPr/>
        </p:nvSpPr>
        <p:spPr>
          <a:xfrm>
            <a:off x="824292" y="3733340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[LYBD] – [LYED]</a:t>
            </a:r>
          </a:p>
        </p:txBody>
      </p:sp>
    </p:spTree>
    <p:extLst>
      <p:ext uri="{BB962C8B-B14F-4D97-AF65-F5344CB8AC3E}">
        <p14:creationId xmlns:p14="http://schemas.microsoft.com/office/powerpoint/2010/main" val="186422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9</a:t>
            </a:fld>
            <a:endParaRPr lang="fr-FR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805703"/>
              </p:ext>
            </p:extLst>
          </p:nvPr>
        </p:nvGraphicFramePr>
        <p:xfrm>
          <a:off x="919598" y="4229040"/>
          <a:ext cx="3283175" cy="99935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56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3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1191">
                  <a:extLst>
                    <a:ext uri="{9D8B030D-6E8A-4147-A177-3AD203B41FA5}">
                      <a16:colId xmlns:a16="http://schemas.microsoft.com/office/drawing/2014/main" xmlns="" val="512400431"/>
                    </a:ext>
                  </a:extLst>
                </a:gridCol>
              </a:tblGrid>
              <a:tr h="5226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# 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</a:rPr>
                        <a:t>Mandays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</a:rPr>
                        <a:t> by department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[MATRIX:IBDCLY]</a:t>
                      </a: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[IDCLYMD]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[SUM:X]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[SUM:Y]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604845" y="-90489"/>
            <a:ext cx="8889343" cy="751543"/>
          </a:xfrm>
          <a:prstGeom prst="rect">
            <a:avLst/>
          </a:prstGeom>
        </p:spPr>
        <p:txBody>
          <a:bodyPr vert="horz" lIns="91673" tIns="45837" rIns="91673" bIns="45837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eaLnBrk="0" hangingPunct="0">
              <a:lnSpc>
                <a:spcPct val="80000"/>
              </a:lnSpc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Inspection by department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955446"/>
              </p:ext>
            </p:extLst>
          </p:nvPr>
        </p:nvGraphicFramePr>
        <p:xfrm>
          <a:off x="939048" y="1554353"/>
          <a:ext cx="3283175" cy="99935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56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3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1191">
                  <a:extLst>
                    <a:ext uri="{9D8B030D-6E8A-4147-A177-3AD203B41FA5}">
                      <a16:colId xmlns:a16="http://schemas.microsoft.com/office/drawing/2014/main" xmlns="" val="512400431"/>
                    </a:ext>
                  </a:extLst>
                </a:gridCol>
              </a:tblGrid>
              <a:tr h="5226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# 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</a:rPr>
                        <a:t>Mandays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</a:rPr>
                        <a:t> by department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[MATRIX:IBDCCY]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[IDCCYCMD]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[SUM:X]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3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</a:rPr>
                        <a:t>Grand Total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[SUM:Y]</a:t>
                      </a:r>
                    </a:p>
                  </a:txBody>
                  <a:tcPr marL="8814" marR="8814" marT="881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1" name="TextBox 2"/>
          <p:cNvSpPr txBox="1"/>
          <p:nvPr/>
        </p:nvSpPr>
        <p:spPr>
          <a:xfrm>
            <a:off x="9484467" y="93888"/>
            <a:ext cx="18449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[OPTION:BYDEPT]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ADE3F0D-FA93-4291-9173-46262F76289A}"/>
              </a:ext>
            </a:extLst>
          </p:cNvPr>
          <p:cNvSpPr/>
          <p:nvPr/>
        </p:nvSpPr>
        <p:spPr>
          <a:xfrm>
            <a:off x="841768" y="976287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DDBA1D7-6983-47A1-A4B2-2EC10294F58D}"/>
              </a:ext>
            </a:extLst>
          </p:cNvPr>
          <p:cNvSpPr/>
          <p:nvPr/>
        </p:nvSpPr>
        <p:spPr>
          <a:xfrm>
            <a:off x="841768" y="3729345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[LYBD] – [LYED]</a:t>
            </a:r>
          </a:p>
        </p:txBody>
      </p:sp>
    </p:spTree>
    <p:extLst>
      <p:ext uri="{BB962C8B-B14F-4D97-AF65-F5344CB8AC3E}">
        <p14:creationId xmlns:p14="http://schemas.microsoft.com/office/powerpoint/2010/main" val="140172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10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24589" y="352931"/>
            <a:ext cx="4756840" cy="437644"/>
          </a:xfrm>
        </p:spPr>
        <p:txBody>
          <a:bodyPr/>
          <a:lstStyle/>
          <a:p>
            <a:r>
              <a:rPr lang="en-HK" dirty="0"/>
              <a:t>Overall Result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03532"/>
              </p:ext>
            </p:extLst>
          </p:nvPr>
        </p:nvGraphicFramePr>
        <p:xfrm>
          <a:off x="6198929" y="753534"/>
          <a:ext cx="6067660" cy="6775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99846">
                  <a:extLst>
                    <a:ext uri="{9D8B030D-6E8A-4147-A177-3AD203B41FA5}">
                      <a16:colId xmlns:a16="http://schemas.microsoft.com/office/drawing/2014/main" xmlns="" val="815658660"/>
                    </a:ext>
                  </a:extLst>
                </a:gridCol>
                <a:gridCol w="1330379">
                  <a:extLst>
                    <a:ext uri="{9D8B030D-6E8A-4147-A177-3AD203B41FA5}">
                      <a16:colId xmlns:a16="http://schemas.microsoft.com/office/drawing/2014/main" xmlns="" val="1753218160"/>
                    </a:ext>
                  </a:extLst>
                </a:gridCol>
                <a:gridCol w="1137435">
                  <a:extLst>
                    <a:ext uri="{9D8B030D-6E8A-4147-A177-3AD203B41FA5}">
                      <a16:colId xmlns:a16="http://schemas.microsoft.com/office/drawing/2014/main" xmlns="" val="3886911642"/>
                    </a:ext>
                  </a:extLst>
                </a:gridCol>
              </a:tblGrid>
              <a:tr h="372556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FAIL</a:t>
                      </a:r>
                      <a:endParaRPr lang="zh-TW" altLang="en-US" sz="1600" dirty="0"/>
                    </a:p>
                  </a:txBody>
                  <a:tcPr marL="91673" marR="91673" marT="45837" marB="4583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Occurrence</a:t>
                      </a:r>
                      <a:endParaRPr lang="zh-TW" altLang="en-US" sz="1600" dirty="0"/>
                    </a:p>
                  </a:txBody>
                  <a:tcPr marL="91673" marR="91673" marT="45837" marB="4583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%</a:t>
                      </a:r>
                      <a:endParaRPr lang="zh-TW" altLang="en-US" sz="1600" dirty="0"/>
                    </a:p>
                  </a:txBody>
                  <a:tcPr marL="91673" marR="91673" marT="45837" marB="45837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949126"/>
                  </a:ext>
                </a:extLst>
              </a:tr>
              <a:tr h="231860">
                <a:tc>
                  <a:txBody>
                    <a:bodyPr/>
                    <a:lstStyle/>
                    <a:p>
                      <a:r>
                        <a:rPr lang="fr-FR" altLang="zh-TW" sz="1400" dirty="0"/>
                        <a:t>[LIST:ORAF][ORAFD]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zh-TW" sz="1400" dirty="0"/>
                        <a:t>[ORAFO]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[ORAFP] %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39785819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071101443"/>
              </p:ext>
            </p:extLst>
          </p:nvPr>
        </p:nvGraphicFramePr>
        <p:xfrm>
          <a:off x="320655" y="1292119"/>
          <a:ext cx="5558770" cy="5122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294400"/>
              </p:ext>
            </p:extLst>
          </p:nvPr>
        </p:nvGraphicFramePr>
        <p:xfrm>
          <a:off x="6198929" y="3950275"/>
          <a:ext cx="6067660" cy="6405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99846">
                  <a:extLst>
                    <a:ext uri="{9D8B030D-6E8A-4147-A177-3AD203B41FA5}">
                      <a16:colId xmlns:a16="http://schemas.microsoft.com/office/drawing/2014/main" xmlns="" val="815658660"/>
                    </a:ext>
                  </a:extLst>
                </a:gridCol>
                <a:gridCol w="1330379">
                  <a:extLst>
                    <a:ext uri="{9D8B030D-6E8A-4147-A177-3AD203B41FA5}">
                      <a16:colId xmlns:a16="http://schemas.microsoft.com/office/drawing/2014/main" xmlns="" val="1753218160"/>
                    </a:ext>
                  </a:extLst>
                </a:gridCol>
                <a:gridCol w="1137435">
                  <a:extLst>
                    <a:ext uri="{9D8B030D-6E8A-4147-A177-3AD203B41FA5}">
                      <a16:colId xmlns:a16="http://schemas.microsoft.com/office/drawing/2014/main" xmlns="" val="3886911642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r>
                        <a:rPr lang="fr-FR" altLang="zh-TW" sz="1600" b="1" dirty="0">
                          <a:solidFill>
                            <a:schemeClr val="bg1"/>
                          </a:solidFill>
                        </a:rPr>
                        <a:t>PENDING</a:t>
                      </a:r>
                      <a:endParaRPr lang="zh-TW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37" marB="45837"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</a:rPr>
                        <a:t>Occurrence</a:t>
                      </a:r>
                      <a:endParaRPr lang="zh-TW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37" marB="45837"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zh-TW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37" marB="45837">
                    <a:solidFill>
                      <a:srgbClr val="FFA4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32850292"/>
                  </a:ext>
                </a:extLst>
              </a:tr>
              <a:tr h="25502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[LIST:ORAP][ORAPD]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[ORAPO]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[ORAPP] %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61599851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1191920" y="1125988"/>
            <a:ext cx="17795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600" b="1" dirty="0"/>
              <a:t>Period: [BD] – [ED]</a:t>
            </a:r>
          </a:p>
        </p:txBody>
      </p:sp>
    </p:spTree>
    <p:extLst>
      <p:ext uri="{BB962C8B-B14F-4D97-AF65-F5344CB8AC3E}">
        <p14:creationId xmlns:p14="http://schemas.microsoft.com/office/powerpoint/2010/main" val="400708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11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44045" y="352931"/>
            <a:ext cx="4756840" cy="437644"/>
          </a:xfrm>
        </p:spPr>
        <p:txBody>
          <a:bodyPr/>
          <a:lstStyle/>
          <a:p>
            <a:r>
              <a:rPr lang="en-HK" dirty="0"/>
              <a:t>Overall Result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503598"/>
              </p:ext>
            </p:extLst>
          </p:nvPr>
        </p:nvGraphicFramePr>
        <p:xfrm>
          <a:off x="5879425" y="470301"/>
          <a:ext cx="6067660" cy="6405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99846">
                  <a:extLst>
                    <a:ext uri="{9D8B030D-6E8A-4147-A177-3AD203B41FA5}">
                      <a16:colId xmlns:a16="http://schemas.microsoft.com/office/drawing/2014/main" xmlns="" val="815658660"/>
                    </a:ext>
                  </a:extLst>
                </a:gridCol>
                <a:gridCol w="1330379">
                  <a:extLst>
                    <a:ext uri="{9D8B030D-6E8A-4147-A177-3AD203B41FA5}">
                      <a16:colId xmlns:a16="http://schemas.microsoft.com/office/drawing/2014/main" xmlns="" val="1753218160"/>
                    </a:ext>
                  </a:extLst>
                </a:gridCol>
                <a:gridCol w="1137435">
                  <a:extLst>
                    <a:ext uri="{9D8B030D-6E8A-4147-A177-3AD203B41FA5}">
                      <a16:colId xmlns:a16="http://schemas.microsoft.com/office/drawing/2014/main" xmlns="" val="3886911642"/>
                    </a:ext>
                  </a:extLst>
                </a:gridCol>
              </a:tblGrid>
              <a:tr h="255028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FAIL</a:t>
                      </a:r>
                      <a:endParaRPr lang="zh-TW" altLang="en-US" sz="1600" dirty="0"/>
                    </a:p>
                  </a:txBody>
                  <a:tcPr marL="91673" marR="91673" marT="45837" marB="4583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Occurrence</a:t>
                      </a:r>
                      <a:endParaRPr lang="zh-TW" altLang="en-US" sz="1600" dirty="0"/>
                    </a:p>
                  </a:txBody>
                  <a:tcPr marL="91673" marR="91673" marT="45837" marB="4583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%</a:t>
                      </a:r>
                      <a:endParaRPr lang="zh-TW" altLang="en-US" sz="1600" dirty="0"/>
                    </a:p>
                  </a:txBody>
                  <a:tcPr marL="91673" marR="91673" marT="45837" marB="45837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949126"/>
                  </a:ext>
                </a:extLst>
              </a:tr>
              <a:tr h="231860">
                <a:tc>
                  <a:txBody>
                    <a:bodyPr/>
                    <a:lstStyle/>
                    <a:p>
                      <a:r>
                        <a:rPr lang="fr-FR" altLang="zh-TW" sz="1400" dirty="0"/>
                        <a:t>[LIST:ORDAF][ORDAFD]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zh-TW" sz="1400" dirty="0"/>
                        <a:t>[ORDAFO]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[ORDAFP] %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39785819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05798715"/>
              </p:ext>
            </p:extLst>
          </p:nvPr>
        </p:nvGraphicFramePr>
        <p:xfrm>
          <a:off x="320655" y="1292119"/>
          <a:ext cx="5558770" cy="5122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542816"/>
              </p:ext>
            </p:extLst>
          </p:nvPr>
        </p:nvGraphicFramePr>
        <p:xfrm>
          <a:off x="5843329" y="3848675"/>
          <a:ext cx="6067660" cy="6405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99846">
                  <a:extLst>
                    <a:ext uri="{9D8B030D-6E8A-4147-A177-3AD203B41FA5}">
                      <a16:colId xmlns:a16="http://schemas.microsoft.com/office/drawing/2014/main" xmlns="" val="815658660"/>
                    </a:ext>
                  </a:extLst>
                </a:gridCol>
                <a:gridCol w="1330379">
                  <a:extLst>
                    <a:ext uri="{9D8B030D-6E8A-4147-A177-3AD203B41FA5}">
                      <a16:colId xmlns:a16="http://schemas.microsoft.com/office/drawing/2014/main" xmlns="" val="1753218160"/>
                    </a:ext>
                  </a:extLst>
                </a:gridCol>
                <a:gridCol w="1137435">
                  <a:extLst>
                    <a:ext uri="{9D8B030D-6E8A-4147-A177-3AD203B41FA5}">
                      <a16:colId xmlns:a16="http://schemas.microsoft.com/office/drawing/2014/main" xmlns="" val="3886911642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r>
                        <a:rPr lang="fr-FR" altLang="zh-TW" sz="1600" b="1" dirty="0">
                          <a:solidFill>
                            <a:schemeClr val="bg1"/>
                          </a:solidFill>
                        </a:rPr>
                        <a:t>PENDING</a:t>
                      </a:r>
                      <a:endParaRPr lang="zh-TW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37" marB="45837"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</a:rPr>
                        <a:t>Occurrence</a:t>
                      </a:r>
                      <a:endParaRPr lang="zh-TW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37" marB="45837"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zh-TW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673" marR="91673" marT="45837" marB="45837">
                    <a:solidFill>
                      <a:srgbClr val="FFA4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32850292"/>
                  </a:ext>
                </a:extLst>
              </a:tr>
              <a:tr h="25502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[LIST:ORDAP][ORDAPD]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[ORDAPO]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[ORDAPP] %</a:t>
                      </a:r>
                      <a:endParaRPr lang="zh-TW" altLang="en-US" sz="1400" dirty="0"/>
                    </a:p>
                  </a:txBody>
                  <a:tcPr marL="91673" marR="91673" marT="45837" marB="4583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61599851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1191920" y="1125988"/>
            <a:ext cx="17795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600" b="1" dirty="0"/>
              <a:t>Period: [BD] – [ED]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-1" y="-14962"/>
            <a:ext cx="18449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[OPTION:BYDEPT]</a:t>
            </a:r>
          </a:p>
        </p:txBody>
      </p:sp>
    </p:spTree>
    <p:extLst>
      <p:ext uri="{BB962C8B-B14F-4D97-AF65-F5344CB8AC3E}">
        <p14:creationId xmlns:p14="http://schemas.microsoft.com/office/powerpoint/2010/main" val="4022882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12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63501" y="352931"/>
            <a:ext cx="5442640" cy="437644"/>
          </a:xfrm>
        </p:spPr>
        <p:txBody>
          <a:bodyPr/>
          <a:lstStyle/>
          <a:p>
            <a:r>
              <a:rPr lang="en-HK" dirty="0"/>
              <a:t>Top 20 Supplier Performances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9419027"/>
              </p:ext>
            </p:extLst>
          </p:nvPr>
        </p:nvGraphicFramePr>
        <p:xfrm>
          <a:off x="164273" y="1552012"/>
          <a:ext cx="5522439" cy="4512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custDataLst>
              <p:custData r:id="rId1"/>
            </p:custDataLst>
            <p:extLst>
              <p:ext uri="{D42A27DB-BD31-4B8C-83A1-F6EECF244321}">
                <p14:modId xmlns:p14="http://schemas.microsoft.com/office/powerpoint/2010/main" val="68656581"/>
              </p:ext>
            </p:extLst>
          </p:nvPr>
        </p:nvGraphicFramePr>
        <p:xfrm>
          <a:off x="5833717" y="1912972"/>
          <a:ext cx="2858035" cy="4098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0168569"/>
              </p:ext>
            </p:extLst>
          </p:nvPr>
        </p:nvGraphicFramePr>
        <p:xfrm>
          <a:off x="8838757" y="1958762"/>
          <a:ext cx="3032057" cy="4098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4067781" y="1324772"/>
            <a:ext cx="6507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600" b="1" dirty="0"/>
              <a:t>[LYIT]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9053" y="1324772"/>
            <a:ext cx="6912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1600" b="1" dirty="0"/>
              <a:t>[CYIT]</a:t>
            </a:r>
          </a:p>
        </p:txBody>
      </p:sp>
    </p:spTree>
    <p:extLst>
      <p:ext uri="{BB962C8B-B14F-4D97-AF65-F5344CB8AC3E}">
        <p14:creationId xmlns:p14="http://schemas.microsoft.com/office/powerpoint/2010/main" val="383567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13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53773" y="352931"/>
            <a:ext cx="7568142" cy="437644"/>
          </a:xfrm>
        </p:spPr>
        <p:txBody>
          <a:bodyPr/>
          <a:lstStyle/>
          <a:p>
            <a:r>
              <a:rPr lang="en-HK" dirty="0"/>
              <a:t>Suppliers overall performances by category  </a:t>
            </a:r>
          </a:p>
          <a:p>
            <a:endParaRPr lang="en-HK" dirty="0"/>
          </a:p>
          <a:p>
            <a:endParaRPr lang="en-HK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6152E92-D62C-4223-8CFE-A273768E0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33433"/>
              </p:ext>
            </p:extLst>
          </p:nvPr>
        </p:nvGraphicFramePr>
        <p:xfrm>
          <a:off x="670701" y="1369920"/>
          <a:ext cx="10513766" cy="1573384"/>
        </p:xfrm>
        <a:graphic>
          <a:graphicData uri="http://schemas.openxmlformats.org/drawingml/2006/table">
            <a:tbl>
              <a:tblPr/>
              <a:tblGrid>
                <a:gridCol w="25453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163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8018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3344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41236">
                  <a:extLst>
                    <a:ext uri="{9D8B030D-6E8A-4147-A177-3AD203B41FA5}">
                      <a16:colId xmlns:a16="http://schemas.microsoft.com/office/drawing/2014/main" xmlns="" val="3357344453"/>
                    </a:ext>
                  </a:extLst>
                </a:gridCol>
                <a:gridCol w="84123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8545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945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xmlns="" val="1094299574"/>
                    </a:ext>
                  </a:extLst>
                </a:gridCol>
                <a:gridCol w="90355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840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05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[LIST:SOPCAC][SCOPCNC]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[SCOPSPBC]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[SCOPSFBC]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[SCOPSPEBC]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[SCOPSMIBC]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[SCOPSTOTBC]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[SCOPSPPBC]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[SCOPSPFBC]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[SCOPSPMIBC]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[SCOPSPPEBC]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[ITEM][SCOPSUN]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[SCOPSPBS]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[SCOPSFBS]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[SCOPSPEBS]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[SCOPSMIBS]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[SCOPSTOTBS]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[SCOPSPPBS]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[SCOPSPFBS]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[SCOPSPMIBS]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[SCOPSPPEBS]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052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[ITEM][SCOPFAN]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[SCOPPAC]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[SCOPFAC]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[SCOPPEC]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[SCOPMIC]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[SCOPSTOTBF]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[SCOPPPAC]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[SCOPPFAC]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[SCOPPPMIC]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latin typeface="+mn-lt"/>
                        </a:rPr>
                        <a:t>[SCOPPPEC]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3149" y="943993"/>
            <a:ext cx="4111324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/>
            <a:r>
              <a:rPr lang="en-US" sz="1600" b="1" dirty="0"/>
              <a:t>Period: [BD]– [ED]</a:t>
            </a:r>
          </a:p>
        </p:txBody>
      </p:sp>
    </p:spTree>
    <p:extLst>
      <p:ext uri="{BB962C8B-B14F-4D97-AF65-F5344CB8AC3E}">
        <p14:creationId xmlns:p14="http://schemas.microsoft.com/office/powerpoint/2010/main" val="866292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14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53772" y="352931"/>
            <a:ext cx="7610475" cy="437644"/>
          </a:xfrm>
        </p:spPr>
        <p:txBody>
          <a:bodyPr/>
          <a:lstStyle/>
          <a:p>
            <a:r>
              <a:rPr lang="en-HK" dirty="0"/>
              <a:t>Suppliers overall performances by department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6152E92-D62C-4223-8CFE-A273768E0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96099"/>
              </p:ext>
            </p:extLst>
          </p:nvPr>
        </p:nvGraphicFramePr>
        <p:xfrm>
          <a:off x="670701" y="1369920"/>
          <a:ext cx="10513766" cy="1573384"/>
        </p:xfrm>
        <a:graphic>
          <a:graphicData uri="http://schemas.openxmlformats.org/drawingml/2006/table">
            <a:tbl>
              <a:tblPr/>
              <a:tblGrid>
                <a:gridCol w="25453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163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8018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3344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41236">
                  <a:extLst>
                    <a:ext uri="{9D8B030D-6E8A-4147-A177-3AD203B41FA5}">
                      <a16:colId xmlns:a16="http://schemas.microsoft.com/office/drawing/2014/main" xmlns="" val="3357344453"/>
                    </a:ext>
                  </a:extLst>
                </a:gridCol>
                <a:gridCol w="84123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8545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945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xmlns="" val="1094299574"/>
                    </a:ext>
                  </a:extLst>
                </a:gridCol>
                <a:gridCol w="90355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840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05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[LIST:SOPCAD][SCOPCND]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[SCOPSPBD]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[SCOPSFBD]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[SCOPSPEBD]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[SCOPSMIBD]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[SCOPSTOTBD]</a:t>
                      </a:r>
                      <a:endParaRPr sz="1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[SCOPSPPBD]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[SCOPSPFBD]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[SCOPSPMIBD]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[SCOPSPPEBD]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[ITEM][SCOPSUND]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[SCOPSPBSD]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[SCOPSFBSD]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[SCOPSPEBSD]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[SCOPSMIBSD]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b="1" dirty="0">
                          <a:latin typeface="+mn-lt"/>
                        </a:rPr>
                        <a:t>[SCOPSTOTBSD]</a:t>
                      </a:r>
                      <a:endParaRPr sz="1000" b="1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[SCOPSPPBSD]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[SCOPSPPBCD]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[SCOPSPFBSD]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[SCOPSPPEBSD]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052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[ITEM][SCOPFAND]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[SCOPPACD]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[SCOPFACD]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[SCOPPECD]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[SCOPMICD]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000" dirty="0">
                          <a:latin typeface="+mn-lt"/>
                        </a:rPr>
                        <a:t>[SCOPSTOTBFD]</a:t>
                      </a:r>
                      <a:endParaRPr sz="10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[SCOPPPACD]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[SCOPPFACD]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[SCOPPPMICD]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latin typeface="+mn-lt"/>
                        </a:rPr>
                        <a:t>[SCOPPPECD]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3421" y="889057"/>
            <a:ext cx="381375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/>
            <a:r>
              <a:rPr lang="en-US" sz="1600" b="1" dirty="0"/>
              <a:t>Period: [BD]– [ED]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8839199" y="519725"/>
            <a:ext cx="18449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[OPTION:BYDEPT]</a:t>
            </a:r>
          </a:p>
        </p:txBody>
      </p:sp>
    </p:spTree>
    <p:extLst>
      <p:ext uri="{BB962C8B-B14F-4D97-AF65-F5344CB8AC3E}">
        <p14:creationId xmlns:p14="http://schemas.microsoft.com/office/powerpoint/2010/main" val="68050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15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53773" y="352931"/>
            <a:ext cx="5780571" cy="437644"/>
          </a:xfrm>
        </p:spPr>
        <p:txBody>
          <a:bodyPr/>
          <a:lstStyle/>
          <a:p>
            <a:r>
              <a:rPr lang="en-US" dirty="0"/>
              <a:t>Overall results per country</a:t>
            </a:r>
            <a:endParaRPr lang="en-HK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6152E92-D62C-4223-8CFE-A273768E0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58878"/>
              </p:ext>
            </p:extLst>
          </p:nvPr>
        </p:nvGraphicFramePr>
        <p:xfrm>
          <a:off x="670701" y="1369920"/>
          <a:ext cx="8752431" cy="2195212"/>
        </p:xfrm>
        <a:graphic>
          <a:graphicData uri="http://schemas.openxmlformats.org/drawingml/2006/table">
            <a:tbl>
              <a:tblPr/>
              <a:tblGrid>
                <a:gridCol w="868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49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915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0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3357344453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1094299574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840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Country 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Suppliers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Reports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 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0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[LIST:SOPCCY][SOPCNCY]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>
                          <a:latin typeface="+mn-lt"/>
                        </a:rPr>
                        <a:t>[SOPSUCY]</a:t>
                      </a:r>
                      <a:endParaRPr sz="14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>
                          <a:latin typeface="+mn-lt"/>
                        </a:rPr>
                        <a:t>[SOPRECY]</a:t>
                      </a:r>
                      <a:endParaRPr sz="14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>
                          <a:latin typeface="+mn-lt"/>
                        </a:rPr>
                        <a:t>[SOPPACY]</a:t>
                      </a:r>
                      <a:endParaRPr sz="14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>
                          <a:latin typeface="+mn-lt"/>
                        </a:rPr>
                        <a:t>[SOPFACY]</a:t>
                      </a:r>
                      <a:endParaRPr sz="14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>
                          <a:latin typeface="+mn-lt"/>
                        </a:rPr>
                        <a:t>[SOPPECY]</a:t>
                      </a:r>
                      <a:endParaRPr sz="14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dirty="0">
                          <a:latin typeface="+mn-lt"/>
                        </a:rPr>
                        <a:t>[SOPMICY]</a:t>
                      </a:r>
                      <a:endParaRPr sz="1400" dirty="0"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+mn-lt"/>
                        </a:rPr>
                        <a:t>[SOPPPACY] 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</a:t>
                      </a:r>
                      <a:r>
                        <a:rPr lang="fr-FR" sz="1400" dirty="0">
                          <a:latin typeface="+mn-lt"/>
                        </a:rPr>
                        <a:t>[SOPPFACY] 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[SOPPPMICY]%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+mn-lt"/>
                        </a:rPr>
                        <a:t>[SOPPPECY]%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05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[SUM:SOPSUCY]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[SUM:SOPRECY]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[SUM:SOPPACY]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[SUM:SOPFACY]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[SUM:SOPPECY]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[SUM:SOPMICY]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[AVG:SOPPACY:SOPRECY]%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[AVG:SOPFACY:SOPRECY]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[AVG:SOPMICY:SOPRECY] %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[AVG:SOPPECY:SOPRECY] %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17354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C6152E92-D62C-4223-8CFE-A273768E0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990961"/>
              </p:ext>
            </p:extLst>
          </p:nvPr>
        </p:nvGraphicFramePr>
        <p:xfrm>
          <a:off x="677544" y="4362585"/>
          <a:ext cx="8752428" cy="2034593"/>
        </p:xfrm>
        <a:graphic>
          <a:graphicData uri="http://schemas.openxmlformats.org/drawingml/2006/table">
            <a:tbl>
              <a:tblPr/>
              <a:tblGrid>
                <a:gridCol w="868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49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91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0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1094787035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668043301"/>
                    </a:ext>
                  </a:extLst>
                </a:gridCol>
                <a:gridCol w="78838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1945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Country </a:t>
                      </a: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Suppliers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Reports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 pass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 Fail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%Missing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 Pending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00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[LIST:SOPC][SOPCN] 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[SOPSU]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[SOPRE]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[SOPPA]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[SOPFA]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[SOPPE]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[SOPMI]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[SOPPPA]%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[SOPPFA]%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[SOPPPMI] 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[SOPPPE]%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61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86" marR="91686" marT="45842" marB="458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[SUM:SOPSU]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[SUM:SOPRE]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[SUM:SOPPA]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[SUM:SOPFA]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[SUM:SOPPE]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[SUM:SOPMI]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[AVG:SOPPA:SOPRE] %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[AVG:SOPFA:SOPRE] %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[AVG:SOPMI:SOPRE] % 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[AVG:SOPPE:SOPRE]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71" marR="91671" marT="45822" marB="458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1" name="Graphique 15"/>
          <p:cNvGraphicFramePr/>
          <p:nvPr>
            <p:extLst>
              <p:ext uri="{D42A27DB-BD31-4B8C-83A1-F6EECF244321}">
                <p14:modId xmlns:p14="http://schemas.microsoft.com/office/powerpoint/2010/main" val="1527608198"/>
              </p:ext>
            </p:extLst>
          </p:nvPr>
        </p:nvGraphicFramePr>
        <p:xfrm>
          <a:off x="9448711" y="2037775"/>
          <a:ext cx="2743289" cy="12740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raphique 15"/>
          <p:cNvGraphicFramePr/>
          <p:nvPr>
            <p:extLst>
              <p:ext uri="{D42A27DB-BD31-4B8C-83A1-F6EECF244321}">
                <p14:modId xmlns:p14="http://schemas.microsoft.com/office/powerpoint/2010/main" val="2836674914"/>
              </p:ext>
            </p:extLst>
          </p:nvPr>
        </p:nvGraphicFramePr>
        <p:xfrm>
          <a:off x="9634800" y="4928954"/>
          <a:ext cx="2743289" cy="12740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1365E84-6648-4E74-BBF4-E0096EF34EBF}"/>
              </a:ext>
            </a:extLst>
          </p:cNvPr>
          <p:cNvSpPr/>
          <p:nvPr/>
        </p:nvSpPr>
        <p:spPr>
          <a:xfrm>
            <a:off x="592877" y="943608"/>
            <a:ext cx="39888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420C405-EF69-4824-8D0E-D6B9B7160C36}"/>
              </a:ext>
            </a:extLst>
          </p:cNvPr>
          <p:cNvSpPr/>
          <p:nvPr/>
        </p:nvSpPr>
        <p:spPr>
          <a:xfrm>
            <a:off x="592877" y="3907666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[LYBD] – [LYED]</a:t>
            </a:r>
          </a:p>
        </p:txBody>
      </p:sp>
    </p:spTree>
    <p:extLst>
      <p:ext uri="{BB962C8B-B14F-4D97-AF65-F5344CB8AC3E}">
        <p14:creationId xmlns:p14="http://schemas.microsoft.com/office/powerpoint/2010/main" val="1944009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68" y="107004"/>
            <a:ext cx="8392406" cy="64278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Suppliers overall performances – Fail reasons detail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16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B86568CB-81F4-4E09-BEAA-7304023B0A8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21023944"/>
              </p:ext>
            </p:extLst>
          </p:nvPr>
        </p:nvGraphicFramePr>
        <p:xfrm>
          <a:off x="763707" y="1151813"/>
          <a:ext cx="10456838" cy="115863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989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43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039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914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49290">
                  <a:extLst>
                    <a:ext uri="{9D8B030D-6E8A-4147-A177-3AD203B41FA5}">
                      <a16:colId xmlns:a16="http://schemas.microsoft.com/office/drawing/2014/main" xmlns="" val="2886463508"/>
                    </a:ext>
                  </a:extLst>
                </a:gridCol>
                <a:gridCol w="2547870">
                  <a:extLst>
                    <a:ext uri="{9D8B030D-6E8A-4147-A177-3AD203B41FA5}">
                      <a16:colId xmlns:a16="http://schemas.microsoft.com/office/drawing/2014/main" xmlns="" val="3505629102"/>
                    </a:ext>
                  </a:extLst>
                </a:gridCol>
                <a:gridCol w="594503">
                  <a:extLst>
                    <a:ext uri="{9D8B030D-6E8A-4147-A177-3AD203B41FA5}">
                      <a16:colId xmlns:a16="http://schemas.microsoft.com/office/drawing/2014/main" xmlns="" val="3910221540"/>
                    </a:ext>
                  </a:extLst>
                </a:gridCol>
              </a:tblGrid>
              <a:tr h="57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Supplier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Factory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Report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# Fail remarks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Top 5 Fail reasons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9250132"/>
                  </a:ext>
                </a:extLst>
              </a:tr>
              <a:tr h="57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[LIST:SOPFRD][SOPFRDCN]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[SOPFRDSN]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[SOPFRDFN]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[SOPFRDRE]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[SOPFRDFR]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[SOPFRDR]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[SOPFRDPR] 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0" name="TextBox 2"/>
          <p:cNvSpPr txBox="1"/>
          <p:nvPr/>
        </p:nvSpPr>
        <p:spPr>
          <a:xfrm>
            <a:off x="140410" y="-15000"/>
            <a:ext cx="185203" cy="3710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sz="1805"/>
          </a:p>
        </p:txBody>
      </p:sp>
      <p:sp>
        <p:nvSpPr>
          <p:cNvPr id="10" name="Rectangle 9"/>
          <p:cNvSpPr/>
          <p:nvPr/>
        </p:nvSpPr>
        <p:spPr>
          <a:xfrm>
            <a:off x="676158" y="781524"/>
            <a:ext cx="4635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9186332" y="301784"/>
            <a:ext cx="18212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[OPTION:BYFACT]</a:t>
            </a:r>
          </a:p>
        </p:txBody>
      </p:sp>
    </p:spTree>
    <p:extLst>
      <p:ext uri="{BB962C8B-B14F-4D97-AF65-F5344CB8AC3E}">
        <p14:creationId xmlns:p14="http://schemas.microsoft.com/office/powerpoint/2010/main" val="3231451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87" y="41330"/>
            <a:ext cx="8392406" cy="75154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Suppliers overall performances – Fail reasons detail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17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B86568CB-81F4-4E09-BEAA-7304023B0A8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559410337"/>
              </p:ext>
            </p:extLst>
          </p:nvPr>
        </p:nvGraphicFramePr>
        <p:xfrm>
          <a:off x="735651" y="951522"/>
          <a:ext cx="9521318" cy="115863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66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048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846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30867">
                  <a:extLst>
                    <a:ext uri="{9D8B030D-6E8A-4147-A177-3AD203B41FA5}">
                      <a16:colId xmlns:a16="http://schemas.microsoft.com/office/drawing/2014/main" xmlns="" val="2886463508"/>
                    </a:ext>
                  </a:extLst>
                </a:gridCol>
                <a:gridCol w="2368012">
                  <a:extLst>
                    <a:ext uri="{9D8B030D-6E8A-4147-A177-3AD203B41FA5}">
                      <a16:colId xmlns:a16="http://schemas.microsoft.com/office/drawing/2014/main" xmlns="" val="3505629102"/>
                    </a:ext>
                  </a:extLst>
                </a:gridCol>
                <a:gridCol w="942455">
                  <a:extLst>
                    <a:ext uri="{9D8B030D-6E8A-4147-A177-3AD203B41FA5}">
                      <a16:colId xmlns:a16="http://schemas.microsoft.com/office/drawing/2014/main" xmlns="" val="3910221540"/>
                    </a:ext>
                  </a:extLst>
                </a:gridCol>
              </a:tblGrid>
              <a:tr h="57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Supplier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Report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# Fail remarks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Top 5 Fail reasons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9250132"/>
                  </a:ext>
                </a:extLst>
              </a:tr>
              <a:tr h="57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[LIST:SOPFRD][SOPFRDCN]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[SOPFRDSN]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[SOPFRDRE]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[SOPFRDFR]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[SOPFRDR]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[SOPFRDPR] 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0" name="TextBox 2"/>
          <p:cNvSpPr txBox="1"/>
          <p:nvPr/>
        </p:nvSpPr>
        <p:spPr>
          <a:xfrm>
            <a:off x="140410" y="-15000"/>
            <a:ext cx="185203" cy="3710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sz="1805"/>
          </a:p>
        </p:txBody>
      </p:sp>
      <p:sp>
        <p:nvSpPr>
          <p:cNvPr id="10" name="Rectangle 9"/>
          <p:cNvSpPr/>
          <p:nvPr/>
        </p:nvSpPr>
        <p:spPr>
          <a:xfrm>
            <a:off x="638371" y="557683"/>
            <a:ext cx="43713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9543117" y="526905"/>
            <a:ext cx="184883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[OPTION:BYSUPP]</a:t>
            </a:r>
          </a:p>
        </p:txBody>
      </p:sp>
    </p:spTree>
    <p:extLst>
      <p:ext uri="{BB962C8B-B14F-4D97-AF65-F5344CB8AC3E}">
        <p14:creationId xmlns:p14="http://schemas.microsoft.com/office/powerpoint/2010/main" val="2024505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424" y="16314"/>
            <a:ext cx="9114324" cy="75154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Suppliers overall performances – Pending reasons details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18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B86568CB-81F4-4E09-BEAA-7304023B0A8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441753547"/>
              </p:ext>
            </p:extLst>
          </p:nvPr>
        </p:nvGraphicFramePr>
        <p:xfrm>
          <a:off x="735864" y="1152315"/>
          <a:ext cx="10406268" cy="106847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377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225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246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755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2111">
                  <a:extLst>
                    <a:ext uri="{9D8B030D-6E8A-4147-A177-3AD203B41FA5}">
                      <a16:colId xmlns:a16="http://schemas.microsoft.com/office/drawing/2014/main" xmlns="" val="2886463508"/>
                    </a:ext>
                  </a:extLst>
                </a:gridCol>
                <a:gridCol w="2645068">
                  <a:extLst>
                    <a:ext uri="{9D8B030D-6E8A-4147-A177-3AD203B41FA5}">
                      <a16:colId xmlns:a16="http://schemas.microsoft.com/office/drawing/2014/main" xmlns="" val="3505629102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xmlns="" val="3910221540"/>
                    </a:ext>
                  </a:extLst>
                </a:gridCol>
              </a:tblGrid>
              <a:tr h="5342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Supplier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Factory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Report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# Pending remarks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Top 5 Pending reasons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42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[LIST:SOPPRD][SOPPRDCN]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[SOPPRDSN]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[SOPPRDFN]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[SOPPRDRE]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[SOPPRPRD]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[SOPPRDR]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[SOPPRDPR] 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9" name="TextBox 2"/>
          <p:cNvSpPr txBox="1"/>
          <p:nvPr/>
        </p:nvSpPr>
        <p:spPr>
          <a:xfrm>
            <a:off x="140410" y="-15000"/>
            <a:ext cx="185203" cy="3710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sz="1805"/>
          </a:p>
        </p:txBody>
      </p:sp>
      <p:sp>
        <p:nvSpPr>
          <p:cNvPr id="9" name="Rectangle 8"/>
          <p:cNvSpPr/>
          <p:nvPr/>
        </p:nvSpPr>
        <p:spPr>
          <a:xfrm>
            <a:off x="638584" y="716434"/>
            <a:ext cx="46435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10100732" y="16314"/>
            <a:ext cx="18212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[OPTION:BYFACT]</a:t>
            </a:r>
          </a:p>
        </p:txBody>
      </p:sp>
    </p:spTree>
    <p:extLst>
      <p:ext uri="{BB962C8B-B14F-4D97-AF65-F5344CB8AC3E}">
        <p14:creationId xmlns:p14="http://schemas.microsoft.com/office/powerpoint/2010/main" val="1563452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92" y="-15000"/>
            <a:ext cx="9114324" cy="48358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Suppliers overall performances – Pending reasons details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19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B86568CB-81F4-4E09-BEAA-7304023B0A8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72226498"/>
              </p:ext>
            </p:extLst>
          </p:nvPr>
        </p:nvGraphicFramePr>
        <p:xfrm>
          <a:off x="769730" y="1132514"/>
          <a:ext cx="10685672" cy="84593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893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51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093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64066">
                  <a:extLst>
                    <a:ext uri="{9D8B030D-6E8A-4147-A177-3AD203B41FA5}">
                      <a16:colId xmlns:a16="http://schemas.microsoft.com/office/drawing/2014/main" xmlns="" val="2886463508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xmlns="" val="3505629102"/>
                    </a:ext>
                  </a:extLst>
                </a:gridCol>
                <a:gridCol w="1117602">
                  <a:extLst>
                    <a:ext uri="{9D8B030D-6E8A-4147-A177-3AD203B41FA5}">
                      <a16:colId xmlns:a16="http://schemas.microsoft.com/office/drawing/2014/main" xmlns="" val="3910221540"/>
                    </a:ext>
                  </a:extLst>
                </a:gridCol>
              </a:tblGrid>
              <a:tr h="4229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Supplier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# Report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# Pending remarks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Top 5 Pending reasons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29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[LIST:SOPPRD][SOPPRDCN]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[SOPPRDSN]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[SOPPRDRE]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[SOPPRPRD]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[SOPPRDR]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Arial" panose="020B0604020202020204" pitchFamily="34" charset="0"/>
                        </a:rPr>
                        <a:t>[SOPPRDPR] 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9" name="TextBox 2"/>
          <p:cNvSpPr txBox="1"/>
          <p:nvPr/>
        </p:nvSpPr>
        <p:spPr>
          <a:xfrm>
            <a:off x="140410" y="-15000"/>
            <a:ext cx="185203" cy="3710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sz="1805"/>
          </a:p>
        </p:txBody>
      </p:sp>
      <p:sp>
        <p:nvSpPr>
          <p:cNvPr id="9" name="Rectangle 8"/>
          <p:cNvSpPr/>
          <p:nvPr/>
        </p:nvSpPr>
        <p:spPr>
          <a:xfrm>
            <a:off x="666834" y="696633"/>
            <a:ext cx="46152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10278532" y="356046"/>
            <a:ext cx="184883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[OPTION:BYSUPP]</a:t>
            </a:r>
          </a:p>
        </p:txBody>
      </p:sp>
    </p:spTree>
    <p:extLst>
      <p:ext uri="{BB962C8B-B14F-4D97-AF65-F5344CB8AC3E}">
        <p14:creationId xmlns:p14="http://schemas.microsoft.com/office/powerpoint/2010/main" val="2202680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87" y="41330"/>
            <a:ext cx="8536789" cy="75154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Suppliers overall performances – Defects details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20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B86568CB-81F4-4E09-BEAA-7304023B0A8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60738149"/>
              </p:ext>
            </p:extLst>
          </p:nvPr>
        </p:nvGraphicFramePr>
        <p:xfrm>
          <a:off x="735651" y="1188923"/>
          <a:ext cx="10115841" cy="96230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6011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087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272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92748">
                  <a:extLst>
                    <a:ext uri="{9D8B030D-6E8A-4147-A177-3AD203B41FA5}">
                      <a16:colId xmlns:a16="http://schemas.microsoft.com/office/drawing/2014/main" xmlns="" val="2886463508"/>
                    </a:ext>
                  </a:extLst>
                </a:gridCol>
                <a:gridCol w="433151">
                  <a:extLst>
                    <a:ext uri="{9D8B030D-6E8A-4147-A177-3AD203B41FA5}">
                      <a16:colId xmlns:a16="http://schemas.microsoft.com/office/drawing/2014/main" xmlns="" val="598468244"/>
                    </a:ext>
                  </a:extLst>
                </a:gridCol>
                <a:gridCol w="505344">
                  <a:extLst>
                    <a:ext uri="{9D8B030D-6E8A-4147-A177-3AD203B41FA5}">
                      <a16:colId xmlns:a16="http://schemas.microsoft.com/office/drawing/2014/main" xmlns="" val="1593500257"/>
                    </a:ext>
                  </a:extLst>
                </a:gridCol>
                <a:gridCol w="505343">
                  <a:extLst>
                    <a:ext uri="{9D8B030D-6E8A-4147-A177-3AD203B41FA5}">
                      <a16:colId xmlns:a16="http://schemas.microsoft.com/office/drawing/2014/main" xmlns="" val="3561748996"/>
                    </a:ext>
                  </a:extLst>
                </a:gridCol>
                <a:gridCol w="442133">
                  <a:extLst>
                    <a:ext uri="{9D8B030D-6E8A-4147-A177-3AD203B41FA5}">
                      <a16:colId xmlns:a16="http://schemas.microsoft.com/office/drawing/2014/main" xmlns="" val="3910221540"/>
                    </a:ext>
                  </a:extLst>
                </a:gridCol>
              </a:tblGrid>
              <a:tr h="61747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Supplier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Factory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Top 5 Defects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Cri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Ma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Min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30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[LIST:SOPDD][SOPDDCN]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[SOPDDSN]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[SOPDDFN]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[SOPDDDF]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[SOPDDCR]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[SOPDDMA]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[SOPDDMI]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[SOPDDPR] %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408399"/>
                  </a:ext>
                </a:extLst>
              </a:tr>
            </a:tbl>
          </a:graphicData>
        </a:graphic>
      </p:graphicFrame>
      <p:sp>
        <p:nvSpPr>
          <p:cNvPr id="10" name="TextBox 2"/>
          <p:cNvSpPr txBox="1"/>
          <p:nvPr/>
        </p:nvSpPr>
        <p:spPr>
          <a:xfrm>
            <a:off x="140410" y="-15000"/>
            <a:ext cx="185203" cy="3710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sz="1805"/>
          </a:p>
        </p:txBody>
      </p:sp>
      <p:sp>
        <p:nvSpPr>
          <p:cNvPr id="12" name="Rectangle 11"/>
          <p:cNvSpPr/>
          <p:nvPr/>
        </p:nvSpPr>
        <p:spPr>
          <a:xfrm>
            <a:off x="648098" y="750666"/>
            <a:ext cx="45659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9592733" y="272905"/>
            <a:ext cx="18212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[OPTION:BYFACT]</a:t>
            </a:r>
          </a:p>
        </p:txBody>
      </p:sp>
    </p:spTree>
    <p:extLst>
      <p:ext uri="{BB962C8B-B14F-4D97-AF65-F5344CB8AC3E}">
        <p14:creationId xmlns:p14="http://schemas.microsoft.com/office/powerpoint/2010/main" val="2722272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275" y="41330"/>
            <a:ext cx="8536789" cy="75154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dirty="0">
                <a:solidFill>
                  <a:srgbClr val="D0131D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Suppliers overall performances – Defects details</a:t>
            </a:r>
            <a:endParaRPr lang="en-US" altLang="zh-TW" sz="2800" dirty="0">
              <a:solidFill>
                <a:srgbClr val="D0131D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FE3B-ACDC-474B-B30C-160A0B1DE8B4}" type="slidenum">
              <a:rPr lang="fr-FR" smtClean="0"/>
              <a:pPr/>
              <a:t>21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B86568CB-81F4-4E09-BEAA-7304023B0A8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11377410"/>
              </p:ext>
            </p:extLst>
          </p:nvPr>
        </p:nvGraphicFramePr>
        <p:xfrm>
          <a:off x="1042571" y="1358200"/>
          <a:ext cx="10141897" cy="96230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327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344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xmlns="" val="2886463508"/>
                    </a:ext>
                  </a:extLst>
                </a:gridCol>
                <a:gridCol w="720985">
                  <a:extLst>
                    <a:ext uri="{9D8B030D-6E8A-4147-A177-3AD203B41FA5}">
                      <a16:colId xmlns:a16="http://schemas.microsoft.com/office/drawing/2014/main" xmlns="" val="598468244"/>
                    </a:ext>
                  </a:extLst>
                </a:gridCol>
                <a:gridCol w="641555">
                  <a:extLst>
                    <a:ext uri="{9D8B030D-6E8A-4147-A177-3AD203B41FA5}">
                      <a16:colId xmlns:a16="http://schemas.microsoft.com/office/drawing/2014/main" xmlns="" val="1593500257"/>
                    </a:ext>
                  </a:extLst>
                </a:gridCol>
                <a:gridCol w="641554">
                  <a:extLst>
                    <a:ext uri="{9D8B030D-6E8A-4147-A177-3AD203B41FA5}">
                      <a16:colId xmlns:a16="http://schemas.microsoft.com/office/drawing/2014/main" xmlns="" val="3561748996"/>
                    </a:ext>
                  </a:extLst>
                </a:gridCol>
                <a:gridCol w="561307">
                  <a:extLst>
                    <a:ext uri="{9D8B030D-6E8A-4147-A177-3AD203B41FA5}">
                      <a16:colId xmlns:a16="http://schemas.microsoft.com/office/drawing/2014/main" xmlns="" val="3910221540"/>
                    </a:ext>
                  </a:extLst>
                </a:gridCol>
              </a:tblGrid>
              <a:tr h="61747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Supplier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Top 5 Defects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Cri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Ma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Min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0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30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[LIST:SOPDD][SOPDDCN]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[SOPDDSN]</a:t>
                      </a:r>
                    </a:p>
                  </a:txBody>
                  <a:tcPr marL="91666" marR="91666" marT="45839" marB="4583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[SOPDDDF]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[SOPDDCR]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[SOPDDMA]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[SOPDDMI]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[SOPDDPR] %</a:t>
                      </a:r>
                    </a:p>
                  </a:txBody>
                  <a:tcPr marL="9548" marR="9548" marT="9549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408399"/>
                  </a:ext>
                </a:extLst>
              </a:tr>
            </a:tbl>
          </a:graphicData>
        </a:graphic>
      </p:graphicFrame>
      <p:sp>
        <p:nvSpPr>
          <p:cNvPr id="10" name="TextBox 2"/>
          <p:cNvSpPr txBox="1"/>
          <p:nvPr/>
        </p:nvSpPr>
        <p:spPr>
          <a:xfrm>
            <a:off x="140410" y="-15000"/>
            <a:ext cx="185203" cy="3710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sz="1805"/>
          </a:p>
        </p:txBody>
      </p:sp>
      <p:sp>
        <p:nvSpPr>
          <p:cNvPr id="12" name="Rectangle 11"/>
          <p:cNvSpPr/>
          <p:nvPr/>
        </p:nvSpPr>
        <p:spPr>
          <a:xfrm>
            <a:off x="969473" y="976287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9641414" y="433941"/>
            <a:ext cx="184883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[OPTION:BYSUPP]</a:t>
            </a:r>
          </a:p>
        </p:txBody>
      </p:sp>
    </p:spTree>
    <p:extLst>
      <p:ext uri="{BB962C8B-B14F-4D97-AF65-F5344CB8AC3E}">
        <p14:creationId xmlns:p14="http://schemas.microsoft.com/office/powerpoint/2010/main" val="1426839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40D410-9CB0-034B-82A8-886AE5287414}" type="slidenum">
              <a:rPr lang="en-US" smtClean="0"/>
              <a:pPr/>
              <a:t>22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441325" y="352931"/>
            <a:ext cx="5383005" cy="437644"/>
          </a:xfrm>
        </p:spPr>
        <p:txBody>
          <a:bodyPr/>
          <a:lstStyle/>
          <a:p>
            <a:r>
              <a:rPr lang="en-US" dirty="0"/>
              <a:t>API reports distribution</a:t>
            </a:r>
            <a:endParaRPr lang="en-HK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14587"/>
              </p:ext>
            </p:extLst>
          </p:nvPr>
        </p:nvGraphicFramePr>
        <p:xfrm>
          <a:off x="787400" y="1962703"/>
          <a:ext cx="10682356" cy="238069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13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96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6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96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943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4087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740875">
                  <a:extLst>
                    <a:ext uri="{9D8B030D-6E8A-4147-A177-3AD203B41FA5}">
                      <a16:colId xmlns:a16="http://schemas.microsoft.com/office/drawing/2014/main" xmlns="" val="3306431276"/>
                    </a:ext>
                  </a:extLst>
                </a:gridCol>
              </a:tblGrid>
              <a:tr h="476139">
                <a:tc>
                  <a:txBody>
                    <a:bodyPr/>
                    <a:lstStyle/>
                    <a:p>
                      <a:pPr algn="l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Month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Jan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Feb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Mar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Apr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May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Jun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Jul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Aug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Sep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Oct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Nov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Dec</a:t>
                      </a:r>
                      <a:endParaRPr lang="en-HK" sz="14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14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algn="l" fontAlgn="ctr"/>
                      <a:r>
                        <a:rPr lang="en-HK" sz="1400" u="none" strike="noStrike" dirty="0">
                          <a:latin typeface="+mn-lt"/>
                        </a:rPr>
                        <a:t>No. of Reports</a:t>
                      </a:r>
                      <a:endParaRPr lang="en-HK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[AEDOJAR]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latin typeface="+mn-lt"/>
                        </a:rPr>
                        <a:t>[AEDOFER]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[AEDOMAR]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[AEDOAPR]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[AEDOMAYR]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[AEDOJUNR]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[AEDOJULR]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[AEDOAUR]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latin typeface="+mn-lt"/>
                        </a:rPr>
                        <a:t>[AEDOSER]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[AEDOOCR]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[AEDONOR]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[AEDODER]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[AEDOSUM]</a:t>
                      </a:r>
                    </a:p>
                  </a:txBody>
                  <a:tcPr marL="6366" marR="6366" marT="636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algn="l" fontAlgn="ctr"/>
                      <a:r>
                        <a:rPr lang="en-HK" sz="1400" u="none" strike="noStrike" dirty="0">
                          <a:latin typeface="+mn-lt"/>
                        </a:rPr>
                        <a:t>No. of</a:t>
                      </a:r>
                      <a:r>
                        <a:rPr lang="en-HK" sz="1400" u="none" strike="noStrike" baseline="0" dirty="0">
                          <a:latin typeface="+mn-lt"/>
                        </a:rPr>
                        <a:t> report later than 3pm HKT</a:t>
                      </a:r>
                      <a:endParaRPr lang="en-HK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66" marR="6366" marT="636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u="none" strike="noStrike" dirty="0">
                          <a:latin typeface="+mn-lt"/>
                        </a:rPr>
                        <a:t>No. of</a:t>
                      </a:r>
                      <a:r>
                        <a:rPr lang="en-HK" sz="1400" u="none" strike="noStrike" baseline="0" dirty="0">
                          <a:latin typeface="+mn-lt"/>
                        </a:rPr>
                        <a:t> report later than 5pm HKT</a:t>
                      </a:r>
                      <a:endParaRPr lang="en-HK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66" marR="6366" marT="636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9932769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b="1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On-time rate (before 5</a:t>
                      </a:r>
                      <a:r>
                        <a:rPr lang="en-HK" sz="1400" b="1" u="none" strike="noStrike" baseline="0" dirty="0">
                          <a:solidFill>
                            <a:schemeClr val="bg1"/>
                          </a:solidFill>
                          <a:latin typeface="+mn-lt"/>
                        </a:rPr>
                        <a:t>pm HKT</a:t>
                      </a:r>
                      <a:endParaRPr lang="en-HK" sz="14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100%</a:t>
                      </a:r>
                      <a:endParaRPr lang="en-US" altLang="zh-TW" sz="14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100%</a:t>
                      </a:r>
                      <a:endParaRPr lang="en-US" altLang="zh-TW" sz="1400" b="1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8786B65-0042-4BD6-B722-89133175B1B7}"/>
              </a:ext>
            </a:extLst>
          </p:cNvPr>
          <p:cNvSpPr/>
          <p:nvPr/>
        </p:nvSpPr>
        <p:spPr>
          <a:xfrm>
            <a:off x="697783" y="1426284"/>
            <a:ext cx="4711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600" b="1" dirty="0"/>
              <a:t>Period: [BD] – [ED]</a:t>
            </a:r>
          </a:p>
        </p:txBody>
      </p:sp>
    </p:spTree>
    <p:extLst>
      <p:ext uri="{BB962C8B-B14F-4D97-AF65-F5344CB8AC3E}">
        <p14:creationId xmlns:p14="http://schemas.microsoft.com/office/powerpoint/2010/main" val="1200946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ite ceramic plates on white wooden kitchen cabin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884" b="35437"/>
          <a:stretch/>
        </p:blipFill>
        <p:spPr bwMode="auto">
          <a:xfrm>
            <a:off x="10818" y="-21266"/>
            <a:ext cx="12181182" cy="688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-9001" y="-12701"/>
            <a:ext cx="12201026" cy="6875786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60615" y="3573499"/>
            <a:ext cx="7526105" cy="751544"/>
          </a:xfrm>
          <a:prstGeom prst="rect">
            <a:avLst/>
          </a:prstGeom>
        </p:spPr>
        <p:txBody>
          <a:bodyPr vert="horz" lIns="91660" tIns="45830" rIns="91660" bIns="45830" rtlCol="0" anchor="ctr">
            <a:normAutofit/>
          </a:bodyPr>
          <a:lstStyle>
            <a:lvl1pPr algn="l" defTabSz="914269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641" y="4331429"/>
            <a:ext cx="6064112" cy="1172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b="1" dirty="0">
                <a:solidFill>
                  <a:srgbClr val="C00000"/>
                </a:solidFill>
              </a:rPr>
              <a:t>Email </a:t>
            </a:r>
          </a:p>
          <a:p>
            <a:r>
              <a:rPr lang="en-US" sz="1404" dirty="0"/>
              <a:t>info@api-hk.com</a:t>
            </a:r>
          </a:p>
          <a:p>
            <a:r>
              <a:rPr lang="en-US" sz="1404" b="1" dirty="0">
                <a:solidFill>
                  <a:srgbClr val="C00000"/>
                </a:solidFill>
              </a:rPr>
              <a:t>Tel. </a:t>
            </a:r>
          </a:p>
          <a:p>
            <a:r>
              <a:rPr lang="en-US" sz="1404" dirty="0"/>
              <a:t>+852 3719 8613</a:t>
            </a:r>
          </a:p>
          <a:p>
            <a:endParaRPr lang="en-US" sz="1404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794DB29F-4DC4-0041-B570-9FCF26540F6D}"/>
              </a:ext>
            </a:extLst>
          </p:cNvPr>
          <p:cNvCxnSpPr>
            <a:cxnSpLocks/>
          </p:cNvCxnSpPr>
          <p:nvPr/>
        </p:nvCxnSpPr>
        <p:spPr>
          <a:xfrm>
            <a:off x="937641" y="4187651"/>
            <a:ext cx="3062859" cy="0"/>
          </a:xfrm>
          <a:prstGeom prst="line">
            <a:avLst/>
          </a:prstGeom>
          <a:ln w="19050">
            <a:solidFill>
              <a:srgbClr val="C033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7641" y="5095745"/>
            <a:ext cx="6064112" cy="95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4" dirty="0"/>
          </a:p>
          <a:p>
            <a:r>
              <a:rPr lang="en-US" sz="1404" b="1" dirty="0">
                <a:solidFill>
                  <a:srgbClr val="C00000"/>
                </a:solidFill>
              </a:rPr>
              <a:t>Address</a:t>
            </a:r>
          </a:p>
          <a:p>
            <a:r>
              <a:rPr lang="en-HK" sz="1404" dirty="0"/>
              <a:t>Rooms 803-5, 8/F, Sing Shun Centre, 495 Castle Peak Road </a:t>
            </a:r>
            <a:br>
              <a:rPr lang="en-HK" sz="1404" dirty="0"/>
            </a:br>
            <a:r>
              <a:rPr lang="en-HK" sz="1404" dirty="0"/>
              <a:t>Lai Chi Kok, Kowloon, Hong Kong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909372">
            <a:off x="8075896" y="6033"/>
            <a:ext cx="2829943" cy="28299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4647" y="2399407"/>
            <a:ext cx="4054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600" b="1" dirty="0">
                <a:solidFill>
                  <a:srgbClr val="C00000"/>
                </a:solidFill>
              </a:rPr>
              <a:t>The Household Goods &amp; Toys Quality Experts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3501" y="2661132"/>
            <a:ext cx="18966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100" dirty="0">
                <a:solidFill>
                  <a:srgbClr val="C00000"/>
                </a:solidFill>
              </a:rPr>
              <a:t>✓   Manufacturing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5922" y="2823563"/>
            <a:ext cx="16033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100" dirty="0">
                <a:solidFill>
                  <a:srgbClr val="C00000"/>
                </a:solidFill>
              </a:rPr>
              <a:t>✓   Preventive approach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5822" y="2680311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100" dirty="0">
                <a:solidFill>
                  <a:srgbClr val="C00000"/>
                </a:solidFill>
              </a:rPr>
              <a:t>✓   Tailor-made solutions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5822" y="2829276"/>
            <a:ext cx="126829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100" dirty="0">
                <a:solidFill>
                  <a:srgbClr val="C00000"/>
                </a:solidFill>
              </a:rPr>
              <a:t>✓   End-User Focus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014"/>
          <a:stretch/>
        </p:blipFill>
        <p:spPr>
          <a:xfrm>
            <a:off x="884332" y="1952011"/>
            <a:ext cx="2171679" cy="1456600"/>
          </a:xfrm>
          <a:custGeom>
            <a:avLst/>
            <a:gdLst>
              <a:gd name="connsiteX0" fmla="*/ 0 w 2171679"/>
              <a:gd name="connsiteY0" fmla="*/ 0 h 1456600"/>
              <a:gd name="connsiteX1" fmla="*/ 2171679 w 2171679"/>
              <a:gd name="connsiteY1" fmla="*/ 0 h 1456600"/>
              <a:gd name="connsiteX2" fmla="*/ 2171679 w 2171679"/>
              <a:gd name="connsiteY2" fmla="*/ 608705 h 1456600"/>
              <a:gd name="connsiteX3" fmla="*/ 1687584 w 2171679"/>
              <a:gd name="connsiteY3" fmla="*/ 608705 h 1456600"/>
              <a:gd name="connsiteX4" fmla="*/ 1687584 w 2171679"/>
              <a:gd name="connsiteY4" fmla="*/ 1146588 h 1456600"/>
              <a:gd name="connsiteX5" fmla="*/ 2171679 w 2171679"/>
              <a:gd name="connsiteY5" fmla="*/ 1146588 h 1456600"/>
              <a:gd name="connsiteX6" fmla="*/ 2171679 w 2171679"/>
              <a:gd name="connsiteY6" fmla="*/ 1456600 h 1456600"/>
              <a:gd name="connsiteX7" fmla="*/ 0 w 2171679"/>
              <a:gd name="connsiteY7" fmla="*/ 1456600 h 145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71679" h="1456600">
                <a:moveTo>
                  <a:pt x="0" y="0"/>
                </a:moveTo>
                <a:lnTo>
                  <a:pt x="2171679" y="0"/>
                </a:lnTo>
                <a:lnTo>
                  <a:pt x="2171679" y="608705"/>
                </a:lnTo>
                <a:lnTo>
                  <a:pt x="1687584" y="608705"/>
                </a:lnTo>
                <a:lnTo>
                  <a:pt x="1687584" y="1146588"/>
                </a:lnTo>
                <a:lnTo>
                  <a:pt x="2171679" y="1146588"/>
                </a:lnTo>
                <a:lnTo>
                  <a:pt x="2171679" y="1456600"/>
                </a:lnTo>
                <a:lnTo>
                  <a:pt x="0" y="1456600"/>
                </a:lnTo>
                <a:close/>
              </a:path>
            </a:pathLst>
          </a:cu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636" y="6345013"/>
            <a:ext cx="2232394" cy="54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441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ontrol xmlns="http://schemas.microsoft.com/VisualStudio/2011/storyboarding/control">
  <Id Name="a2ebb067-717e-4e57-9a3e-7b718c6b70ba" Revision="1" Stencil="System.MyShapes" StencilVersion="1.0"/>
</Control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9FA199AE564C4C8D8A4A299116E062" ma:contentTypeVersion="11" ma:contentTypeDescription="Create a new document." ma:contentTypeScope="" ma:versionID="5243b2dad9db82ae2a87a0e3c623ae14">
  <xsd:schema xmlns:xsd="http://www.w3.org/2001/XMLSchema" xmlns:xs="http://www.w3.org/2001/XMLSchema" xmlns:p="http://schemas.microsoft.com/office/2006/metadata/properties" xmlns:ns2="0ca8fa96-978e-4f53-9a1c-f586dff4920b" xmlns:ns3="49d7a1e4-b1e5-40c6-8c82-871188914b81" targetNamespace="http://schemas.microsoft.com/office/2006/metadata/properties" ma:root="true" ma:fieldsID="e0fda48f69f80adf081b7b0adfa11eda" ns2:_="" ns3:_="">
    <xsd:import namespace="0ca8fa96-978e-4f53-9a1c-f586dff4920b"/>
    <xsd:import namespace="49d7a1e4-b1e5-40c6-8c82-871188914b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a8fa96-978e-4f53-9a1c-f586dff49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7a1e4-b1e5-40c6-8c82-871188914b8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066D8F-57A9-4E47-B237-5BF1BC6006D5}">
  <ds:schemaRefs>
    <ds:schemaRef ds:uri="http://schemas.microsoft.com/office/2006/metadata/properties"/>
    <ds:schemaRef ds:uri="http://schemas.microsoft.com/office/infopath/2007/PartnerControls"/>
    <ds:schemaRef ds:uri="49d7a1e4-b1e5-40c6-8c82-871188914b81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0ca8fa96-978e-4f53-9a1c-f586dff4920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2A754CD-791A-4C3F-9FAB-39B80F2DE3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823269-A520-4F3E-AC91-08C092BB7232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1E811D2C-3908-4592-9A47-096C19156D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a8fa96-978e-4f53-9a1c-f586dff4920b"/>
    <ds:schemaRef ds:uri="49d7a1e4-b1e5-40c6-8c82-871188914b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45347</TotalTime>
  <Words>1910</Words>
  <Application>Microsoft Office PowerPoint</Application>
  <PresentationFormat>Personnalisé</PresentationFormat>
  <Paragraphs>655</Paragraphs>
  <Slides>23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5" baseType="lpstr">
      <vt:lpstr>Cover</vt:lpstr>
      <vt:lpstr>Body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Inspection Type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Suppliers overall performances – Fail reasons detail</vt:lpstr>
      <vt:lpstr>Suppliers overall performances – Fail reasons detail</vt:lpstr>
      <vt:lpstr>Suppliers overall performances – Pending reasons details</vt:lpstr>
      <vt:lpstr>Suppliers overall performances – Pending reasons details</vt:lpstr>
      <vt:lpstr>Suppliers overall performances – Defects details</vt:lpstr>
      <vt:lpstr>Suppliers overall performances – Defects details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DesignKobo</dc:creator>
  <cp:lastModifiedBy>mosaab jebarat</cp:lastModifiedBy>
  <cp:revision>911</cp:revision>
  <cp:lastPrinted>2018-09-20T02:47:21Z</cp:lastPrinted>
  <dcterms:created xsi:type="dcterms:W3CDTF">2018-09-11T07:40:54Z</dcterms:created>
  <dcterms:modified xsi:type="dcterms:W3CDTF">2021-08-23T08:12:18Z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0x010100CC9FA199AE564C4C8D8A4A299116E062</vt:lpwstr>
  </property>
  <property fmtid="{D5CDD505-2E9C-101B-9397-08002B2CF9AE}" pid="3" name="Tfs.IsStoryboard">
    <vt:bool>true</vt:bool>
  </property>
</Properties>
</file>